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4"/>
    <p:sldId id="265" r:id="rId15"/>
    <p:sldId id="266" r:id="rId16"/>
    <p:sldId id="267"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300" b="1">
                <a:latin typeface="Arial"/>
              </a:rPr>
              <a:t>Money leaks (revenue or margin at stake)</a:t>
            </a:r>
          </a:p>
        </c:rich>
      </c:tx>
      <c:overlay val="0"/>
    </c:title>
    <c:autoTitleDeleted val="0"/>
    <c:plotArea>
      <c:layout/>
      <c:barChart>
        <c:barDir val="bar"/>
        <c:grouping val="clustered"/>
        <c:varyColors val="1"/>
        <c:ser>
          <c:idx val="0"/>
          <c:order val="0"/>
          <c:tx>
            <c:strRef>
              <c:f>Sheet1!$B$1</c:f>
              <c:strCache>
                <c:ptCount val="1"/>
                <c:pt idx="0">
                  <c:v>Money leaks (revenue or margin at stake)</c:v>
                </c:pt>
              </c:strCache>
            </c:strRef>
          </c:tx>
          <c:spPr>
            <a:solidFill>
              <a:srgbClr val="19E3F5"/>
            </a:solidFill>
          </c:spPr>
          <c:invertIfNegative val="1"/>
          <c:dLbls>
            <c:numFmt formatCode="#,##0" sourceLinked="0"/>
            <c:spPr>
              <a:noFill/>
              <a:ln>
                <a:noFill/>
              </a:ln>
              <a:effectLst/>
            </c:spPr>
            <c:txPr>
              <a:bodyPr/>
              <a:lstStyle/>
              <a:p>
                <a:pPr>
                  <a:defRPr sz="1100">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Sold below cost</c:v>
                </c:pt>
                <c:pt idx="1">
                  <c:v>Cancelled</c:v>
                </c:pt>
                <c:pt idx="2">
                  <c:v>Returned</c:v>
                </c:pt>
                <c:pt idx="3">
                  <c:v>Stuck pending 30d+</c:v>
                </c:pt>
              </c:strCache>
            </c:strRef>
          </c:cat>
          <c:val>
            <c:numRef>
              <c:f>Sheet1!$B$2:$B$5</c:f>
              <c:numCache>
                <c:formatCode>General</c:formatCode>
                <c:ptCount val="4"/>
                <c:pt idx="0">
                  <c:v>1051931</c:v>
                </c:pt>
                <c:pt idx="1">
                  <c:v>931264</c:v>
                </c:pt>
                <c:pt idx="2">
                  <c:v>819650</c:v>
                </c:pt>
                <c:pt idx="3">
                  <c:v>452276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015-47FD-82DD-9B74A3ED9F64}"/>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999999"/>
            </a:solidFill>
          </a:ln>
        </c:spPr>
        <c:txPr>
          <a:bodyPr/>
          <a:lstStyle/>
          <a:p>
            <a:pPr>
              <a:defRPr sz="1100">
                <a:latin typeface="Arial"/>
              </a:defRPr>
            </a:pPr>
            <a:endParaRPr lang="en-US"/>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logo-dsc-light.png"/>
          <p:cNvPicPr>
            <a:picLocks noChangeAspect="1"/>
          </p:cNvPicPr>
          <p:nvPr/>
        </p:nvPicPr>
        <p:blipFill>
          <a:blip r:embed="rId2"/>
          <a:stretch>
            <a:fillRect/>
          </a:stretch>
        </p:blipFill>
        <p:spPr>
          <a:xfrm>
            <a:off x="502920" y="228600"/>
            <a:ext cx="1316397" cy="1051560"/>
          </a:xfrm>
          <a:prstGeom prst="rect">
            <a:avLst/>
          </a:prstGeom>
        </p:spPr>
      </p:pic>
      <p:pic>
        <p:nvPicPr>
          <p:cNvPr id="3" name="Picture 2" descr="logo-vitap-light.png"/>
          <p:cNvPicPr>
            <a:picLocks noChangeAspect="1"/>
          </p:cNvPicPr>
          <p:nvPr/>
        </p:nvPicPr>
        <p:blipFill>
          <a:blip r:embed="rId3"/>
          <a:stretch>
            <a:fillRect/>
          </a:stretch>
        </p:blipFill>
        <p:spPr>
          <a:xfrm>
            <a:off x="4480560" y="365760"/>
            <a:ext cx="2497824" cy="777240"/>
          </a:xfrm>
          <a:prstGeom prst="rect">
            <a:avLst/>
          </a:prstGeom>
        </p:spPr>
      </p:pic>
      <p:pic>
        <p:nvPicPr>
          <p:cNvPr id="4" name="Picture 3" descr="logo-iiec-light.png"/>
          <p:cNvPicPr>
            <a:picLocks noChangeAspect="1"/>
          </p:cNvPicPr>
          <p:nvPr/>
        </p:nvPicPr>
        <p:blipFill>
          <a:blip r:embed="rId4"/>
          <a:stretch>
            <a:fillRect/>
          </a:stretch>
        </p:blipFill>
        <p:spPr>
          <a:xfrm>
            <a:off x="9829800" y="457200"/>
            <a:ext cx="1811915" cy="685800"/>
          </a:xfrm>
          <a:prstGeom prst="rect">
            <a:avLst/>
          </a:prstGeom>
        </p:spPr>
      </p:pic>
      <p:sp>
        <p:nvSpPr>
          <p:cNvPr id="5" name="Rectangle 4"/>
          <p:cNvSpPr/>
          <p:nvPr/>
        </p:nvSpPr>
        <p:spPr>
          <a:xfrm>
            <a:off x="457200" y="1417320"/>
            <a:ext cx="11274552" cy="36576"/>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54480"/>
            <a:ext cx="11247120" cy="1371600"/>
          </a:xfrm>
          <a:prstGeom prst="rect">
            <a:avLst/>
          </a:prstGeom>
          <a:noFill/>
        </p:spPr>
        <p:txBody>
          <a:bodyPr wrap="square" anchor="t">
            <a:spAutoFit/>
          </a:bodyPr>
          <a:lstStyle/>
          <a:p>
            <a:pPr algn="ctr"/>
            <a:r>
              <a:rPr sz="6600" b="0">
                <a:solidFill>
                  <a:srgbClr val="000000"/>
                </a:solidFill>
                <a:latin typeface="Arial Black"/>
              </a:rPr>
              <a:t>DATA</a:t>
            </a:r>
            <a:r>
              <a:rPr sz="6600" b="0">
                <a:solidFill>
                  <a:srgbClr val="19E3F5"/>
                </a:solidFill>
                <a:latin typeface="Arial Black"/>
              </a:rPr>
              <a:t>T</a:t>
            </a:r>
            <a:r>
              <a:rPr sz="6600" b="0">
                <a:solidFill>
                  <a:srgbClr val="000000"/>
                </a:solidFill>
                <a:latin typeface="Arial Black"/>
              </a:rPr>
              <a:t>HON 2026</a:t>
            </a:r>
          </a:p>
        </p:txBody>
      </p:sp>
      <p:sp>
        <p:nvSpPr>
          <p:cNvPr id="7" name="TextBox 6"/>
          <p:cNvSpPr txBox="1"/>
          <p:nvPr/>
        </p:nvSpPr>
        <p:spPr>
          <a:xfrm>
            <a:off x="457200" y="2788920"/>
            <a:ext cx="11247120" cy="548640"/>
          </a:xfrm>
          <a:prstGeom prst="rect">
            <a:avLst/>
          </a:prstGeom>
          <a:noFill/>
        </p:spPr>
        <p:txBody>
          <a:bodyPr wrap="square" anchor="t">
            <a:spAutoFit/>
          </a:bodyPr>
          <a:lstStyle/>
          <a:p>
            <a:pPr algn="ctr"/>
            <a:r>
              <a:rPr sz="2400" b="1">
                <a:solidFill>
                  <a:srgbClr val="000000"/>
                </a:solidFill>
                <a:latin typeface="Arial"/>
              </a:rPr>
              <a:t>ROUND 1  ·  IDEA PPT + BASE PROTOTYPE</a:t>
            </a:r>
          </a:p>
        </p:txBody>
      </p:sp>
      <p:sp>
        <p:nvSpPr>
          <p:cNvPr id="8" name="TextBox 7"/>
          <p:cNvSpPr txBox="1"/>
          <p:nvPr/>
        </p:nvSpPr>
        <p:spPr>
          <a:xfrm>
            <a:off x="2926080" y="3566160"/>
            <a:ext cx="7772400" cy="2349361"/>
          </a:xfrm>
          <a:prstGeom prst="rect">
            <a:avLst/>
          </a:prstGeom>
          <a:noFill/>
        </p:spPr>
        <p:txBody>
          <a:bodyPr wrap="square">
            <a:spAutoFit/>
          </a:bodyPr>
          <a:lstStyle/>
          <a:p>
            <a:pPr marL="365760" indent="-365760">
              <a:spcAft>
                <a:spcPts val="800"/>
              </a:spcAft>
              <a:buFont typeface="Arial"/>
              <a:buChar char="•"/>
            </a:pPr>
            <a:r>
              <a:rPr sz="2400" dirty="0">
                <a:solidFill>
                  <a:srgbClr val="000000"/>
                </a:solidFill>
                <a:latin typeface="Arial"/>
              </a:rPr>
              <a:t>Team Name:</a:t>
            </a:r>
            <a:r>
              <a:rPr lang="en-IN" sz="2400" dirty="0">
                <a:solidFill>
                  <a:srgbClr val="000000"/>
                </a:solidFill>
                <a:latin typeface="Arial"/>
              </a:rPr>
              <a:t> W V P S SRIRAJ</a:t>
            </a:r>
            <a:endParaRPr sz="2400" dirty="0">
              <a:solidFill>
                <a:srgbClr val="000000"/>
              </a:solidFill>
              <a:latin typeface="Arial"/>
            </a:endParaRPr>
          </a:p>
          <a:p>
            <a:pPr marL="365760" indent="-365760">
              <a:spcAft>
                <a:spcPts val="800"/>
              </a:spcAft>
              <a:buFont typeface="Arial"/>
              <a:buChar char="•"/>
            </a:pPr>
            <a:r>
              <a:rPr sz="2400" dirty="0">
                <a:solidFill>
                  <a:srgbClr val="000000"/>
                </a:solidFill>
                <a:latin typeface="Arial"/>
              </a:rPr>
              <a:t>Team Members: </a:t>
            </a:r>
            <a:r>
              <a:rPr lang="en-IN" sz="2400" dirty="0">
                <a:solidFill>
                  <a:srgbClr val="000000"/>
                </a:solidFill>
                <a:latin typeface="Arial"/>
              </a:rPr>
              <a:t>W V P S </a:t>
            </a:r>
            <a:r>
              <a:rPr sz="2400" dirty="0" err="1">
                <a:solidFill>
                  <a:srgbClr val="000000"/>
                </a:solidFill>
                <a:latin typeface="Arial"/>
              </a:rPr>
              <a:t>Sriraj</a:t>
            </a:r>
            <a:r>
              <a:rPr sz="2400" dirty="0">
                <a:solidFill>
                  <a:srgbClr val="000000"/>
                </a:solidFill>
                <a:latin typeface="Arial"/>
              </a:rPr>
              <a:t> (23BCE8414) </a:t>
            </a:r>
          </a:p>
          <a:p>
            <a:pPr marL="365760" indent="-365760">
              <a:spcAft>
                <a:spcPts val="800"/>
              </a:spcAft>
              <a:buFont typeface="Arial"/>
              <a:buChar char="•"/>
            </a:pPr>
            <a:r>
              <a:rPr sz="2400" dirty="0">
                <a:solidFill>
                  <a:srgbClr val="000000"/>
                </a:solidFill>
                <a:latin typeface="Arial"/>
              </a:rPr>
              <a:t>Track Chosen: Track 4 - Business</a:t>
            </a:r>
          </a:p>
          <a:p>
            <a:pPr marL="365760" indent="-365760">
              <a:spcAft>
                <a:spcPts val="800"/>
              </a:spcAft>
              <a:buFont typeface="Arial"/>
              <a:buChar char="•"/>
            </a:pPr>
            <a:r>
              <a:rPr sz="2400" dirty="0">
                <a:solidFill>
                  <a:srgbClr val="000000"/>
                </a:solidFill>
                <a:latin typeface="Arial"/>
              </a:rPr>
              <a:t>Problem Statement: The Money Leak</a:t>
            </a:r>
          </a:p>
          <a:p>
            <a:pPr marL="365760" indent="-365760">
              <a:spcAft>
                <a:spcPts val="800"/>
              </a:spcAft>
              <a:buFont typeface="Arial"/>
              <a:buChar char="•"/>
            </a:pPr>
            <a:r>
              <a:rPr sz="2400" dirty="0">
                <a:solidFill>
                  <a:srgbClr val="000000"/>
                </a:solidFill>
                <a:latin typeface="Arial"/>
              </a:rPr>
              <a:t>Product Name: </a:t>
            </a:r>
            <a:r>
              <a:rPr sz="2400" dirty="0" err="1">
                <a:solidFill>
                  <a:srgbClr val="000000"/>
                </a:solidFill>
                <a:latin typeface="Arial"/>
              </a:rPr>
              <a:t>LeakFinder</a:t>
            </a:r>
            <a:endParaRPr sz="2400" dirty="0">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783080" y="228600"/>
            <a:ext cx="8595360" cy="868680"/>
          </a:xfrm>
          <a:prstGeom prst="rect">
            <a:avLst/>
          </a:prstGeom>
          <a:noFill/>
        </p:spPr>
        <p:txBody>
          <a:bodyPr wrap="square" anchor="ctr">
            <a:spAutoFit/>
          </a:bodyPr>
          <a:lstStyle/>
          <a:p>
            <a:pPr algn="ctr"/>
            <a:r>
              <a:rPr sz="3000" b="0">
                <a:solidFill>
                  <a:srgbClr val="000000"/>
                </a:solidFill>
                <a:latin typeface="Arial Black"/>
              </a:rPr>
              <a:t>PROBLEM &amp; TARGET USER</a:t>
            </a:r>
          </a:p>
        </p:txBody>
      </p:sp>
      <p:pic>
        <p:nvPicPr>
          <p:cNvPr id="3" name="Picture 2" descr="logo-dsc-light.png"/>
          <p:cNvPicPr>
            <a:picLocks noChangeAspect="1"/>
          </p:cNvPicPr>
          <p:nvPr/>
        </p:nvPicPr>
        <p:blipFill>
          <a:blip r:embed="rId2"/>
          <a:stretch>
            <a:fillRect/>
          </a:stretch>
        </p:blipFill>
        <p:spPr>
          <a:xfrm>
            <a:off x="411480" y="137160"/>
            <a:ext cx="1144693" cy="914400"/>
          </a:xfrm>
          <a:prstGeom prst="rect">
            <a:avLst/>
          </a:prstGeom>
        </p:spPr>
      </p:pic>
      <p:pic>
        <p:nvPicPr>
          <p:cNvPr id="4" name="Picture 3" descr="logo-iiec-light.png"/>
          <p:cNvPicPr>
            <a:picLocks noChangeAspect="1"/>
          </p:cNvPicPr>
          <p:nvPr/>
        </p:nvPicPr>
        <p:blipFill>
          <a:blip r:embed="rId3"/>
          <a:stretch>
            <a:fillRect/>
          </a:stretch>
        </p:blipFill>
        <p:spPr>
          <a:xfrm>
            <a:off x="10241280" y="320040"/>
            <a:ext cx="1497850" cy="566928"/>
          </a:xfrm>
          <a:prstGeom prst="rect">
            <a:avLst/>
          </a:prstGeom>
        </p:spPr>
      </p:pic>
      <p:sp>
        <p:nvSpPr>
          <p:cNvPr id="5" name="Rectangle 4"/>
          <p:cNvSpPr/>
          <p:nvPr/>
        </p:nvSpPr>
        <p:spPr>
          <a:xfrm>
            <a:off x="0" y="6355080"/>
            <a:ext cx="12191695" cy="50292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6355080"/>
            <a:ext cx="12191695" cy="502920"/>
          </a:xfrm>
          <a:prstGeom prst="rect">
            <a:avLst/>
          </a:prstGeom>
          <a:noFill/>
        </p:spPr>
        <p:txBody>
          <a:bodyPr wrap="square" anchor="ctr">
            <a:spAutoFit/>
          </a:bodyPr>
          <a:lstStyle/>
          <a:p>
            <a:pPr algn="ctr"/>
            <a:r>
              <a:rPr sz="1200" b="1">
                <a:solidFill>
                  <a:srgbClr val="000000"/>
                </a:solidFill>
                <a:latin typeface="Arial"/>
              </a:rPr>
              <a:t>DATATHON 2026  ·  Round 1 Idea Submission – Template</a:t>
            </a:r>
          </a:p>
        </p:txBody>
      </p:sp>
      <p:sp>
        <p:nvSpPr>
          <p:cNvPr id="7" name="TextBox 6"/>
          <p:cNvSpPr txBox="1"/>
          <p:nvPr/>
        </p:nvSpPr>
        <p:spPr>
          <a:xfrm>
            <a:off x="10881360" y="6355080"/>
            <a:ext cx="1005840" cy="502920"/>
          </a:xfrm>
          <a:prstGeom prst="rect">
            <a:avLst/>
          </a:prstGeom>
          <a:noFill/>
        </p:spPr>
        <p:txBody>
          <a:bodyPr wrap="square" anchor="ctr">
            <a:spAutoFit/>
          </a:bodyPr>
          <a:lstStyle/>
          <a:p>
            <a:pPr algn="r"/>
            <a:r>
              <a:rPr sz="1300" b="1">
                <a:solidFill>
                  <a:srgbClr val="000000"/>
                </a:solidFill>
                <a:latin typeface="Arial"/>
              </a:rPr>
              <a:t>2</a:t>
            </a:r>
          </a:p>
        </p:txBody>
      </p:sp>
      <p:sp>
        <p:nvSpPr>
          <p:cNvPr id="8" name="TextBox 7"/>
          <p:cNvSpPr txBox="1"/>
          <p:nvPr/>
        </p:nvSpPr>
        <p:spPr>
          <a:xfrm>
            <a:off x="548640" y="1400000"/>
            <a:ext cx="11064240" cy="480000"/>
          </a:xfrm>
          <a:prstGeom prst="rect">
            <a:avLst/>
          </a:prstGeom>
          <a:noFill/>
        </p:spPr>
        <p:txBody>
          <a:bodyPr wrap="square">
            <a:spAutoFit/>
          </a:bodyPr>
          <a:lstStyle/>
          <a:p>
            <a:r>
              <a:rPr sz="2400" b="1" u="none">
                <a:solidFill>
                  <a:srgbClr val="000000"/>
                </a:solidFill>
                <a:latin typeface="Arial"/>
              </a:rPr>
              <a:t>❖ </a:t>
            </a:r>
            <a:r>
              <a:rPr sz="2400" b="1" u="sng">
                <a:solidFill>
                  <a:srgbClr val="000000"/>
                </a:solidFill>
                <a:latin typeface="Arial"/>
              </a:rPr>
              <a:t>Problem &amp; Target User</a:t>
            </a:r>
          </a:p>
        </p:txBody>
      </p:sp>
      <p:sp>
        <p:nvSpPr>
          <p:cNvPr id="9" name="TextBox 8"/>
          <p:cNvSpPr txBox="1"/>
          <p:nvPr/>
        </p:nvSpPr>
        <p:spPr>
          <a:xfrm>
            <a:off x="548640" y="1950000"/>
            <a:ext cx="11064240" cy="2118529"/>
          </a:xfrm>
          <a:prstGeom prst="rect">
            <a:avLst/>
          </a:prstGeom>
          <a:noFill/>
        </p:spPr>
        <p:txBody>
          <a:bodyPr wrap="square">
            <a:spAutoFit/>
          </a:bodyPr>
          <a:lstStyle/>
          <a:p>
            <a:pPr marL="285750" indent="-285750">
              <a:spcAft>
                <a:spcPts val="800"/>
              </a:spcAft>
              <a:buFont typeface="Arial"/>
              <a:buChar char="•"/>
            </a:pPr>
            <a:r>
              <a:rPr sz="1500" b="1" u="none" dirty="0">
                <a:solidFill>
                  <a:srgbClr val="000000"/>
                </a:solidFill>
                <a:latin typeface="Arial"/>
              </a:rPr>
              <a:t>Who and pain: </a:t>
            </a:r>
            <a:r>
              <a:rPr sz="1500" b="0" u="none" dirty="0">
                <a:solidFill>
                  <a:srgbClr val="000000"/>
                </a:solidFill>
                <a:latin typeface="Arial"/>
              </a:rPr>
              <a:t>business owners, retail and category managers, and operations teams. Sales, prices, stock and ad spend sit in five separate tables, so nobody can see where profit is lost or which problems are real.</a:t>
            </a:r>
            <a:endParaRPr lang="en-IN" sz="1500" b="0" u="none" dirty="0">
              <a:solidFill>
                <a:srgbClr val="000000"/>
              </a:solidFill>
              <a:latin typeface="Arial"/>
            </a:endParaRPr>
          </a:p>
          <a:p>
            <a:pPr marL="285750" indent="-285750">
              <a:spcAft>
                <a:spcPts val="800"/>
              </a:spcAft>
              <a:buFont typeface="Arial"/>
              <a:buChar char="•"/>
            </a:pPr>
            <a:endParaRPr sz="1500" b="0" u="none" dirty="0">
              <a:solidFill>
                <a:srgbClr val="000000"/>
              </a:solidFill>
              <a:latin typeface="Arial"/>
            </a:endParaRPr>
          </a:p>
          <a:p>
            <a:pPr marL="285750" indent="-285750">
              <a:spcAft>
                <a:spcPts val="800"/>
              </a:spcAft>
              <a:buFont typeface="Arial"/>
              <a:buChar char="•"/>
            </a:pPr>
            <a:r>
              <a:rPr sz="1500" b="1" u="none" dirty="0">
                <a:solidFill>
                  <a:srgbClr val="000000"/>
                </a:solidFill>
                <a:latin typeface="Arial"/>
              </a:rPr>
              <a:t>Why it matters: </a:t>
            </a:r>
            <a:r>
              <a:rPr sz="1500" b="0" u="none" dirty="0">
                <a:solidFill>
                  <a:srgbClr val="000000"/>
                </a:solidFill>
                <a:latin typeface="Arial"/>
              </a:rPr>
              <a:t>10.16M was booked but only 7.91M was realized. 17.2% of booked revenue is cancelled or returned. Without proof, managers fix noise and miss the real leak.</a:t>
            </a:r>
            <a:endParaRPr lang="en-IN" sz="1500" dirty="0">
              <a:solidFill>
                <a:srgbClr val="000000"/>
              </a:solidFill>
              <a:latin typeface="Arial"/>
            </a:endParaRPr>
          </a:p>
          <a:p>
            <a:pPr marL="285750" indent="-285750">
              <a:spcAft>
                <a:spcPts val="800"/>
              </a:spcAft>
              <a:buFont typeface="Arial"/>
              <a:buChar char="•"/>
            </a:pPr>
            <a:endParaRPr sz="1500" b="0" u="none" dirty="0">
              <a:solidFill>
                <a:srgbClr val="000000"/>
              </a:solidFill>
              <a:latin typeface="Arial"/>
            </a:endParaRPr>
          </a:p>
          <a:p>
            <a:pPr marL="285750" indent="-285750">
              <a:spcAft>
                <a:spcPts val="800"/>
              </a:spcAft>
              <a:buFont typeface="Arial"/>
              <a:buChar char="•"/>
            </a:pPr>
            <a:r>
              <a:rPr sz="1500" b="1" u="none" dirty="0">
                <a:solidFill>
                  <a:srgbClr val="000000"/>
                </a:solidFill>
                <a:latin typeface="Arial"/>
              </a:rPr>
              <a:t>Evidence from the dataset: </a:t>
            </a:r>
          </a:p>
        </p:txBody>
      </p:sp>
      <p:sp>
        <p:nvSpPr>
          <p:cNvPr id="10" name="Rectangle 9"/>
          <p:cNvSpPr/>
          <p:nvPr/>
        </p:nvSpPr>
        <p:spPr>
          <a:xfrm>
            <a:off x="548640" y="4300000"/>
            <a:ext cx="2650000" cy="150000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4300000"/>
            <a:ext cx="2650000" cy="6000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4410000"/>
            <a:ext cx="2650000" cy="1077218"/>
          </a:xfrm>
          <a:prstGeom prst="rect">
            <a:avLst/>
          </a:prstGeom>
          <a:noFill/>
        </p:spPr>
        <p:txBody>
          <a:bodyPr wrap="square">
            <a:spAutoFit/>
          </a:bodyPr>
          <a:lstStyle/>
          <a:p>
            <a:pPr algn="ctr"/>
            <a:r>
              <a:rPr sz="2600" b="1" u="none" dirty="0">
                <a:solidFill>
                  <a:srgbClr val="000000"/>
                </a:solidFill>
                <a:latin typeface="Arial"/>
              </a:rPr>
              <a:t>76 of 250</a:t>
            </a:r>
            <a:endParaRPr lang="en-IN" sz="2600" b="1" u="none" dirty="0">
              <a:solidFill>
                <a:srgbClr val="000000"/>
              </a:solidFill>
              <a:latin typeface="Arial"/>
            </a:endParaRPr>
          </a:p>
          <a:p>
            <a:pPr algn="ctr"/>
            <a:endParaRPr sz="2600" b="1" u="none" dirty="0">
              <a:solidFill>
                <a:srgbClr val="000000"/>
              </a:solidFill>
              <a:latin typeface="Arial"/>
            </a:endParaRPr>
          </a:p>
          <a:p>
            <a:pPr algn="ctr"/>
            <a:r>
              <a:rPr sz="1200" b="0" u="none" dirty="0">
                <a:solidFill>
                  <a:srgbClr val="555555"/>
                </a:solidFill>
                <a:latin typeface="Arial"/>
              </a:rPr>
              <a:t>products priced below unit cost</a:t>
            </a:r>
          </a:p>
        </p:txBody>
      </p:sp>
      <p:sp>
        <p:nvSpPr>
          <p:cNvPr id="13" name="Rectangle 12"/>
          <p:cNvSpPr/>
          <p:nvPr/>
        </p:nvSpPr>
        <p:spPr>
          <a:xfrm>
            <a:off x="3352640" y="4300000"/>
            <a:ext cx="2650000" cy="150000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52640" y="4300000"/>
            <a:ext cx="2650000" cy="6000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52640" y="4410000"/>
            <a:ext cx="2650000" cy="1261884"/>
          </a:xfrm>
          <a:prstGeom prst="rect">
            <a:avLst/>
          </a:prstGeom>
          <a:noFill/>
        </p:spPr>
        <p:txBody>
          <a:bodyPr wrap="square">
            <a:spAutoFit/>
          </a:bodyPr>
          <a:lstStyle/>
          <a:p>
            <a:pPr algn="ctr"/>
            <a:r>
              <a:rPr sz="2600" b="1" u="none" dirty="0">
                <a:solidFill>
                  <a:srgbClr val="000000"/>
                </a:solidFill>
                <a:latin typeface="Arial"/>
              </a:rPr>
              <a:t>-1.05M</a:t>
            </a:r>
            <a:endParaRPr lang="en-IN" sz="2600" b="1" u="none" dirty="0">
              <a:solidFill>
                <a:srgbClr val="000000"/>
              </a:solidFill>
              <a:latin typeface="Arial"/>
            </a:endParaRPr>
          </a:p>
          <a:p>
            <a:pPr algn="ctr"/>
            <a:endParaRPr sz="2600" b="1" u="none" dirty="0">
              <a:solidFill>
                <a:srgbClr val="000000"/>
              </a:solidFill>
              <a:latin typeface="Arial"/>
            </a:endParaRPr>
          </a:p>
          <a:p>
            <a:pPr algn="ctr"/>
            <a:r>
              <a:rPr sz="1200" b="0" u="none" dirty="0">
                <a:solidFill>
                  <a:srgbClr val="555555"/>
                </a:solidFill>
                <a:latin typeface="Arial"/>
              </a:rPr>
              <a:t>lost on completed sales because of that</a:t>
            </a:r>
          </a:p>
        </p:txBody>
      </p:sp>
      <p:sp>
        <p:nvSpPr>
          <p:cNvPr id="16" name="Rectangle 15"/>
          <p:cNvSpPr/>
          <p:nvPr/>
        </p:nvSpPr>
        <p:spPr>
          <a:xfrm>
            <a:off x="6156640" y="4300000"/>
            <a:ext cx="2650000" cy="150000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56640" y="4300000"/>
            <a:ext cx="2650000" cy="6000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56640" y="4410000"/>
            <a:ext cx="2650000" cy="1077218"/>
          </a:xfrm>
          <a:prstGeom prst="rect">
            <a:avLst/>
          </a:prstGeom>
          <a:noFill/>
        </p:spPr>
        <p:txBody>
          <a:bodyPr wrap="square">
            <a:spAutoFit/>
          </a:bodyPr>
          <a:lstStyle/>
          <a:p>
            <a:pPr algn="ctr"/>
            <a:r>
              <a:rPr sz="2600" b="1" u="none" dirty="0">
                <a:solidFill>
                  <a:srgbClr val="000000"/>
                </a:solidFill>
                <a:latin typeface="Arial"/>
              </a:rPr>
              <a:t>1.75M</a:t>
            </a:r>
            <a:endParaRPr lang="en-IN" sz="2600" b="1" u="none" dirty="0">
              <a:solidFill>
                <a:srgbClr val="000000"/>
              </a:solidFill>
              <a:latin typeface="Arial"/>
            </a:endParaRPr>
          </a:p>
          <a:p>
            <a:pPr algn="ctr"/>
            <a:endParaRPr sz="2600" b="1" u="none" dirty="0">
              <a:solidFill>
                <a:srgbClr val="000000"/>
              </a:solidFill>
              <a:latin typeface="Arial"/>
            </a:endParaRPr>
          </a:p>
          <a:p>
            <a:pPr algn="ctr"/>
            <a:r>
              <a:rPr sz="1200" b="0" u="none" dirty="0">
                <a:solidFill>
                  <a:srgbClr val="555555"/>
                </a:solidFill>
                <a:latin typeface="Arial"/>
              </a:rPr>
              <a:t>revenue cancelled or returned</a:t>
            </a:r>
          </a:p>
        </p:txBody>
      </p:sp>
      <p:sp>
        <p:nvSpPr>
          <p:cNvPr id="19" name="Rectangle 18"/>
          <p:cNvSpPr/>
          <p:nvPr/>
        </p:nvSpPr>
        <p:spPr>
          <a:xfrm>
            <a:off x="8960640" y="4300000"/>
            <a:ext cx="2650000" cy="150000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960640" y="4300000"/>
            <a:ext cx="2650000" cy="6000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60640" y="4410000"/>
            <a:ext cx="2650000" cy="1077218"/>
          </a:xfrm>
          <a:prstGeom prst="rect">
            <a:avLst/>
          </a:prstGeom>
          <a:noFill/>
        </p:spPr>
        <p:txBody>
          <a:bodyPr wrap="square">
            <a:spAutoFit/>
          </a:bodyPr>
          <a:lstStyle/>
          <a:p>
            <a:pPr algn="ctr"/>
            <a:r>
              <a:rPr sz="2600" b="1" u="none" dirty="0">
                <a:solidFill>
                  <a:srgbClr val="000000"/>
                </a:solidFill>
                <a:latin typeface="Arial"/>
              </a:rPr>
              <a:t>1.9x</a:t>
            </a:r>
            <a:endParaRPr lang="en-IN" sz="2600" b="1" u="none" dirty="0">
              <a:solidFill>
                <a:srgbClr val="000000"/>
              </a:solidFill>
              <a:latin typeface="Arial"/>
            </a:endParaRPr>
          </a:p>
          <a:p>
            <a:pPr algn="ctr"/>
            <a:endParaRPr sz="2600" b="1" u="none" dirty="0">
              <a:solidFill>
                <a:srgbClr val="000000"/>
              </a:solidFill>
              <a:latin typeface="Arial"/>
            </a:endParaRPr>
          </a:p>
          <a:p>
            <a:pPr algn="ctr"/>
            <a:r>
              <a:rPr sz="1200" b="0" u="none" dirty="0">
                <a:solidFill>
                  <a:srgbClr val="555555"/>
                </a:solidFill>
                <a:latin typeface="Arial"/>
              </a:rPr>
              <a:t>marketing spend vs margin kept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783080" y="228600"/>
            <a:ext cx="8595360" cy="868680"/>
          </a:xfrm>
          <a:prstGeom prst="rect">
            <a:avLst/>
          </a:prstGeom>
          <a:noFill/>
        </p:spPr>
        <p:txBody>
          <a:bodyPr wrap="square" anchor="ctr">
            <a:spAutoFit/>
          </a:bodyPr>
          <a:lstStyle/>
          <a:p>
            <a:pPr algn="ctr"/>
            <a:r>
              <a:rPr sz="3000" b="0">
                <a:solidFill>
                  <a:srgbClr val="000000"/>
                </a:solidFill>
                <a:latin typeface="Arial Black"/>
              </a:rPr>
              <a:t>SOLUTION &amp; USP</a:t>
            </a:r>
          </a:p>
        </p:txBody>
      </p:sp>
      <p:pic>
        <p:nvPicPr>
          <p:cNvPr id="3" name="Picture 2" descr="logo-dsc-light.png"/>
          <p:cNvPicPr>
            <a:picLocks noChangeAspect="1"/>
          </p:cNvPicPr>
          <p:nvPr/>
        </p:nvPicPr>
        <p:blipFill>
          <a:blip r:embed="rId2"/>
          <a:stretch>
            <a:fillRect/>
          </a:stretch>
        </p:blipFill>
        <p:spPr>
          <a:xfrm>
            <a:off x="411480" y="137160"/>
            <a:ext cx="1144693" cy="914400"/>
          </a:xfrm>
          <a:prstGeom prst="rect">
            <a:avLst/>
          </a:prstGeom>
        </p:spPr>
      </p:pic>
      <p:pic>
        <p:nvPicPr>
          <p:cNvPr id="4" name="Picture 3" descr="logo-iiec-light.png"/>
          <p:cNvPicPr>
            <a:picLocks noChangeAspect="1"/>
          </p:cNvPicPr>
          <p:nvPr/>
        </p:nvPicPr>
        <p:blipFill>
          <a:blip r:embed="rId3"/>
          <a:stretch>
            <a:fillRect/>
          </a:stretch>
        </p:blipFill>
        <p:spPr>
          <a:xfrm>
            <a:off x="10241280" y="320040"/>
            <a:ext cx="1497850" cy="566928"/>
          </a:xfrm>
          <a:prstGeom prst="rect">
            <a:avLst/>
          </a:prstGeom>
        </p:spPr>
      </p:pic>
      <p:sp>
        <p:nvSpPr>
          <p:cNvPr id="5" name="Rectangle 4"/>
          <p:cNvSpPr/>
          <p:nvPr/>
        </p:nvSpPr>
        <p:spPr>
          <a:xfrm>
            <a:off x="0" y="6355080"/>
            <a:ext cx="12191695" cy="50292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6355080"/>
            <a:ext cx="12191695" cy="502920"/>
          </a:xfrm>
          <a:prstGeom prst="rect">
            <a:avLst/>
          </a:prstGeom>
          <a:noFill/>
        </p:spPr>
        <p:txBody>
          <a:bodyPr wrap="square" anchor="ctr">
            <a:spAutoFit/>
          </a:bodyPr>
          <a:lstStyle/>
          <a:p>
            <a:pPr algn="ctr"/>
            <a:r>
              <a:rPr sz="1200" b="1">
                <a:solidFill>
                  <a:srgbClr val="000000"/>
                </a:solidFill>
                <a:latin typeface="Arial"/>
              </a:rPr>
              <a:t>DATATHON 2026  ·  Round 1 Idea Submission – Template</a:t>
            </a:r>
          </a:p>
        </p:txBody>
      </p:sp>
      <p:sp>
        <p:nvSpPr>
          <p:cNvPr id="7" name="TextBox 6"/>
          <p:cNvSpPr txBox="1"/>
          <p:nvPr/>
        </p:nvSpPr>
        <p:spPr>
          <a:xfrm>
            <a:off x="10881360" y="6355080"/>
            <a:ext cx="1005840" cy="502920"/>
          </a:xfrm>
          <a:prstGeom prst="rect">
            <a:avLst/>
          </a:prstGeom>
          <a:noFill/>
        </p:spPr>
        <p:txBody>
          <a:bodyPr wrap="square" anchor="ctr">
            <a:spAutoFit/>
          </a:bodyPr>
          <a:lstStyle/>
          <a:p>
            <a:pPr algn="r"/>
            <a:r>
              <a:rPr sz="1300" b="1">
                <a:solidFill>
                  <a:srgbClr val="000000"/>
                </a:solidFill>
                <a:latin typeface="Arial"/>
              </a:rPr>
              <a:t>3</a:t>
            </a:r>
          </a:p>
        </p:txBody>
      </p:sp>
      <p:sp>
        <p:nvSpPr>
          <p:cNvPr id="8" name="TextBox 7"/>
          <p:cNvSpPr txBox="1"/>
          <p:nvPr/>
        </p:nvSpPr>
        <p:spPr>
          <a:xfrm>
            <a:off x="548640" y="1400000"/>
            <a:ext cx="11064240" cy="480000"/>
          </a:xfrm>
          <a:prstGeom prst="rect">
            <a:avLst/>
          </a:prstGeom>
          <a:noFill/>
        </p:spPr>
        <p:txBody>
          <a:bodyPr wrap="square">
            <a:spAutoFit/>
          </a:bodyPr>
          <a:lstStyle/>
          <a:p>
            <a:r>
              <a:rPr sz="2400" b="1" u="none">
                <a:solidFill>
                  <a:srgbClr val="000000"/>
                </a:solidFill>
                <a:latin typeface="Arial"/>
              </a:rPr>
              <a:t>❖ </a:t>
            </a:r>
            <a:r>
              <a:rPr sz="2400" b="1" u="sng">
                <a:solidFill>
                  <a:srgbClr val="000000"/>
                </a:solidFill>
                <a:latin typeface="Arial"/>
              </a:rPr>
              <a:t>Proposed Solution</a:t>
            </a:r>
          </a:p>
        </p:txBody>
      </p:sp>
      <p:sp>
        <p:nvSpPr>
          <p:cNvPr id="9" name="TextBox 8"/>
          <p:cNvSpPr txBox="1"/>
          <p:nvPr/>
        </p:nvSpPr>
        <p:spPr>
          <a:xfrm>
            <a:off x="548640" y="1900000"/>
            <a:ext cx="11064240" cy="1900000"/>
          </a:xfrm>
          <a:prstGeom prst="rect">
            <a:avLst/>
          </a:prstGeom>
          <a:noFill/>
        </p:spPr>
        <p:txBody>
          <a:bodyPr wrap="square">
            <a:spAutoFit/>
          </a:bodyPr>
          <a:lstStyle/>
          <a:p>
            <a:pPr marL="285750" indent="-285750">
              <a:spcAft>
                <a:spcPts val="600"/>
              </a:spcAft>
              <a:buFont typeface="Arial"/>
              <a:buChar char="•"/>
            </a:pPr>
            <a:r>
              <a:rPr sz="1400" b="1" u="none">
                <a:solidFill>
                  <a:srgbClr val="000000"/>
                </a:solidFill>
                <a:latin typeface="Arial"/>
              </a:rPr>
              <a:t>LeakFinder: </a:t>
            </a:r>
            <a:r>
              <a:rPr sz="1400" b="0" u="none">
                <a:solidFill>
                  <a:srgbClr val="000000"/>
                </a:solidFill>
                <a:latin typeface="Arial"/>
              </a:rPr>
              <a:t>a decision-support app that finds each money leak (pricing, cancellations and returns, stuck orders, stock, ads), ranks it by money at stake, and shows the evidence.</a:t>
            </a:r>
          </a:p>
          <a:p>
            <a:pPr marL="285750" indent="-285750">
              <a:spcAft>
                <a:spcPts val="600"/>
              </a:spcAft>
              <a:buFont typeface="Arial"/>
              <a:buChar char="•"/>
            </a:pPr>
            <a:r>
              <a:rPr sz="1400" b="1" u="none">
                <a:solidFill>
                  <a:srgbClr val="000000"/>
                </a:solidFill>
                <a:latin typeface="Arial"/>
              </a:rPr>
              <a:t>Manager flow: </a:t>
            </a:r>
            <a:r>
              <a:rPr sz="1400" b="0" u="none">
                <a:solidFill>
                  <a:srgbClr val="000000"/>
                </a:solidFill>
                <a:latin typeface="Arial"/>
              </a:rPr>
              <a:t>open Command Center, see ranked leaks, drill into why, run a what-if (for example reprice), download the action plan.</a:t>
            </a:r>
          </a:p>
          <a:p>
            <a:pPr marL="285750" indent="-285750">
              <a:spcAft>
                <a:spcPts val="600"/>
              </a:spcAft>
              <a:buFont typeface="Arial"/>
              <a:buChar char="•"/>
            </a:pPr>
            <a:r>
              <a:rPr sz="1400" b="1" u="none">
                <a:solidFill>
                  <a:srgbClr val="000000"/>
                </a:solidFill>
                <a:latin typeface="Arial"/>
              </a:rPr>
              <a:t>How it fixes the problem: </a:t>
            </a:r>
            <a:r>
              <a:rPr sz="1400" b="0" u="none">
                <a:solidFill>
                  <a:srgbClr val="000000"/>
                </a:solidFill>
                <a:latin typeface="Arial"/>
              </a:rPr>
              <a:t>joins 5 tables into one investigation view, with a 'why flagged' panel and a confidence label on every action.</a:t>
            </a:r>
          </a:p>
        </p:txBody>
      </p:sp>
      <p:sp>
        <p:nvSpPr>
          <p:cNvPr id="10" name="TextBox 9"/>
          <p:cNvSpPr txBox="1"/>
          <p:nvPr/>
        </p:nvSpPr>
        <p:spPr>
          <a:xfrm>
            <a:off x="548640" y="3850000"/>
            <a:ext cx="11064240" cy="480000"/>
          </a:xfrm>
          <a:prstGeom prst="rect">
            <a:avLst/>
          </a:prstGeom>
          <a:noFill/>
        </p:spPr>
        <p:txBody>
          <a:bodyPr wrap="square">
            <a:spAutoFit/>
          </a:bodyPr>
          <a:lstStyle/>
          <a:p>
            <a:r>
              <a:rPr sz="2400" b="1" u="none" dirty="0">
                <a:solidFill>
                  <a:srgbClr val="000000"/>
                </a:solidFill>
                <a:latin typeface="Arial"/>
              </a:rPr>
              <a:t>❖ </a:t>
            </a:r>
            <a:r>
              <a:rPr sz="2400" b="1" u="sng" dirty="0">
                <a:solidFill>
                  <a:srgbClr val="000000"/>
                </a:solidFill>
                <a:latin typeface="Arial"/>
              </a:rPr>
              <a:t>USP</a:t>
            </a:r>
            <a:r>
              <a:rPr sz="1400" b="0" u="none" dirty="0">
                <a:solidFill>
                  <a:srgbClr val="555555"/>
                </a:solidFill>
                <a:latin typeface="Arial"/>
              </a:rPr>
              <a:t>  </a:t>
            </a:r>
          </a:p>
        </p:txBody>
      </p:sp>
      <p:sp>
        <p:nvSpPr>
          <p:cNvPr id="11" name="TextBox 10"/>
          <p:cNvSpPr txBox="1"/>
          <p:nvPr/>
        </p:nvSpPr>
        <p:spPr>
          <a:xfrm>
            <a:off x="548640" y="4400000"/>
            <a:ext cx="11064240" cy="1900000"/>
          </a:xfrm>
          <a:prstGeom prst="rect">
            <a:avLst/>
          </a:prstGeom>
          <a:noFill/>
        </p:spPr>
        <p:txBody>
          <a:bodyPr wrap="square">
            <a:spAutoFit/>
          </a:bodyPr>
          <a:lstStyle/>
          <a:p>
            <a:pPr marL="285750" indent="-285750">
              <a:spcAft>
                <a:spcPts val="600"/>
              </a:spcAft>
              <a:buFont typeface="Arial"/>
              <a:buChar char="•"/>
            </a:pPr>
            <a:r>
              <a:rPr sz="1400" b="1" u="none">
                <a:solidFill>
                  <a:srgbClr val="000000"/>
                </a:solidFill>
                <a:latin typeface="Arial"/>
              </a:rPr>
              <a:t>Real leak or noise? </a:t>
            </a:r>
            <a:r>
              <a:rPr sz="1400" b="0" u="none">
                <a:solidFill>
                  <a:srgbClr val="000000"/>
                </a:solidFill>
                <a:latin typeface="Arial"/>
              </a:rPr>
              <a:t>tests 10 possible drivers of failed orders and says 'no real signal' when it is chance (0 of 10 are real), instead of showing a made-up risk score.</a:t>
            </a:r>
          </a:p>
          <a:p>
            <a:pPr marL="285750" indent="-285750">
              <a:spcAft>
                <a:spcPts val="600"/>
              </a:spcAft>
              <a:buFont typeface="Arial"/>
              <a:buChar char="•"/>
            </a:pPr>
            <a:r>
              <a:rPr sz="1400" b="1" u="none">
                <a:solidFill>
                  <a:srgbClr val="000000"/>
                </a:solidFill>
                <a:latin typeface="Arial"/>
              </a:rPr>
              <a:t>Beyond the obvious approach: </a:t>
            </a:r>
            <a:r>
              <a:rPr sz="1400" b="0" u="none">
                <a:solidFill>
                  <a:srgbClr val="000000"/>
                </a:solidFill>
                <a:latin typeface="Arial"/>
              </a:rPr>
              <a:t>a sales dashboard plus a black-box return model. Ours gives proof, a confidence level and a ranked action, with all ML written from scratch and scored on future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783080" y="228600"/>
            <a:ext cx="8595360" cy="868680"/>
          </a:xfrm>
          <a:prstGeom prst="rect">
            <a:avLst/>
          </a:prstGeom>
          <a:noFill/>
        </p:spPr>
        <p:txBody>
          <a:bodyPr wrap="square" anchor="ctr">
            <a:spAutoFit/>
          </a:bodyPr>
          <a:lstStyle/>
          <a:p>
            <a:pPr algn="ctr"/>
            <a:r>
              <a:rPr sz="3000" b="0">
                <a:solidFill>
                  <a:srgbClr val="000000"/>
                </a:solidFill>
                <a:latin typeface="Arial Black"/>
              </a:rPr>
              <a:t>DATASET &amp; INSIGHTS</a:t>
            </a:r>
          </a:p>
        </p:txBody>
      </p:sp>
      <p:pic>
        <p:nvPicPr>
          <p:cNvPr id="3" name="Picture 2" descr="logo-dsc-light.png"/>
          <p:cNvPicPr>
            <a:picLocks noChangeAspect="1"/>
          </p:cNvPicPr>
          <p:nvPr/>
        </p:nvPicPr>
        <p:blipFill>
          <a:blip r:embed="rId2"/>
          <a:stretch>
            <a:fillRect/>
          </a:stretch>
        </p:blipFill>
        <p:spPr>
          <a:xfrm>
            <a:off x="411480" y="137160"/>
            <a:ext cx="1144693" cy="914400"/>
          </a:xfrm>
          <a:prstGeom prst="rect">
            <a:avLst/>
          </a:prstGeom>
        </p:spPr>
      </p:pic>
      <p:pic>
        <p:nvPicPr>
          <p:cNvPr id="4" name="Picture 3" descr="logo-iiec-light.png"/>
          <p:cNvPicPr>
            <a:picLocks noChangeAspect="1"/>
          </p:cNvPicPr>
          <p:nvPr/>
        </p:nvPicPr>
        <p:blipFill>
          <a:blip r:embed="rId3"/>
          <a:stretch>
            <a:fillRect/>
          </a:stretch>
        </p:blipFill>
        <p:spPr>
          <a:xfrm>
            <a:off x="10241280" y="320040"/>
            <a:ext cx="1497850" cy="566928"/>
          </a:xfrm>
          <a:prstGeom prst="rect">
            <a:avLst/>
          </a:prstGeom>
        </p:spPr>
      </p:pic>
      <p:sp>
        <p:nvSpPr>
          <p:cNvPr id="5" name="Rectangle 4"/>
          <p:cNvSpPr/>
          <p:nvPr/>
        </p:nvSpPr>
        <p:spPr>
          <a:xfrm>
            <a:off x="0" y="6355080"/>
            <a:ext cx="12191695" cy="50292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6355080"/>
            <a:ext cx="12191695" cy="502920"/>
          </a:xfrm>
          <a:prstGeom prst="rect">
            <a:avLst/>
          </a:prstGeom>
          <a:noFill/>
        </p:spPr>
        <p:txBody>
          <a:bodyPr wrap="square" anchor="ctr">
            <a:spAutoFit/>
          </a:bodyPr>
          <a:lstStyle/>
          <a:p>
            <a:pPr algn="ctr"/>
            <a:r>
              <a:rPr sz="1200" b="1">
                <a:solidFill>
                  <a:srgbClr val="000000"/>
                </a:solidFill>
                <a:latin typeface="Arial"/>
              </a:rPr>
              <a:t>DATATHON 2026  ·  Round 1 Idea Submission – Template</a:t>
            </a:r>
          </a:p>
        </p:txBody>
      </p:sp>
      <p:sp>
        <p:nvSpPr>
          <p:cNvPr id="7" name="TextBox 6"/>
          <p:cNvSpPr txBox="1"/>
          <p:nvPr/>
        </p:nvSpPr>
        <p:spPr>
          <a:xfrm>
            <a:off x="10881360" y="6355080"/>
            <a:ext cx="1005840" cy="502920"/>
          </a:xfrm>
          <a:prstGeom prst="rect">
            <a:avLst/>
          </a:prstGeom>
          <a:noFill/>
        </p:spPr>
        <p:txBody>
          <a:bodyPr wrap="square" anchor="ctr">
            <a:spAutoFit/>
          </a:bodyPr>
          <a:lstStyle/>
          <a:p>
            <a:pPr algn="r"/>
            <a:r>
              <a:rPr sz="1300" b="1">
                <a:solidFill>
                  <a:srgbClr val="000000"/>
                </a:solidFill>
                <a:latin typeface="Arial"/>
              </a:rPr>
              <a:t>4</a:t>
            </a:r>
          </a:p>
        </p:txBody>
      </p:sp>
      <p:sp>
        <p:nvSpPr>
          <p:cNvPr id="8" name="TextBox 7"/>
          <p:cNvSpPr txBox="1"/>
          <p:nvPr/>
        </p:nvSpPr>
        <p:spPr>
          <a:xfrm>
            <a:off x="548640" y="1400000"/>
            <a:ext cx="11064240" cy="480000"/>
          </a:xfrm>
          <a:prstGeom prst="rect">
            <a:avLst/>
          </a:prstGeom>
          <a:noFill/>
        </p:spPr>
        <p:txBody>
          <a:bodyPr wrap="square">
            <a:spAutoFit/>
          </a:bodyPr>
          <a:lstStyle/>
          <a:p>
            <a:r>
              <a:rPr sz="2400" b="1" u="none">
                <a:solidFill>
                  <a:srgbClr val="000000"/>
                </a:solidFill>
                <a:latin typeface="Arial"/>
              </a:rPr>
              <a:t>❖ </a:t>
            </a:r>
            <a:r>
              <a:rPr sz="2400" b="1" u="sng">
                <a:solidFill>
                  <a:srgbClr val="000000"/>
                </a:solidFill>
                <a:latin typeface="Arial"/>
              </a:rPr>
              <a:t>Dataset Usage</a:t>
            </a:r>
          </a:p>
        </p:txBody>
      </p:sp>
      <p:sp>
        <p:nvSpPr>
          <p:cNvPr id="9" name="TextBox 8"/>
          <p:cNvSpPr txBox="1"/>
          <p:nvPr/>
        </p:nvSpPr>
        <p:spPr>
          <a:xfrm>
            <a:off x="548640" y="1950000"/>
            <a:ext cx="6300000" cy="4300000"/>
          </a:xfrm>
          <a:prstGeom prst="rect">
            <a:avLst/>
          </a:prstGeom>
          <a:noFill/>
        </p:spPr>
        <p:txBody>
          <a:bodyPr wrap="square">
            <a:spAutoFit/>
          </a:bodyPr>
          <a:lstStyle/>
          <a:p>
            <a:pPr marL="285750" indent="-285750">
              <a:spcAft>
                <a:spcPts val="700"/>
              </a:spcAft>
              <a:buFont typeface="Arial"/>
              <a:buChar char="•"/>
            </a:pPr>
            <a:r>
              <a:rPr sz="1300" b="1" u="none">
                <a:solidFill>
                  <a:srgbClr val="000000"/>
                </a:solidFill>
                <a:latin typeface="Arial"/>
              </a:rPr>
              <a:t>Tables used (all 5): </a:t>
            </a:r>
            <a:r>
              <a:rPr sz="1300" b="0" u="none">
                <a:solidFill>
                  <a:srgbClr val="000000"/>
                </a:solidFill>
                <a:latin typeface="Arial"/>
              </a:rPr>
              <a:t>transactions joined to customers (customer_id) and products (product_id); inventory joined on product_id; campaigns analysed by date, channel and category.</a:t>
            </a:r>
          </a:p>
          <a:p>
            <a:pPr marL="285750" indent="-285750">
              <a:spcAft>
                <a:spcPts val="700"/>
              </a:spcAft>
              <a:buFont typeface="Arial"/>
              <a:buChar char="•"/>
            </a:pPr>
            <a:r>
              <a:rPr sz="1300" b="1" u="none">
                <a:solidFill>
                  <a:srgbClr val="000000"/>
                </a:solidFill>
                <a:latin typeface="Arial"/>
              </a:rPr>
              <a:t>Cleaning and assumptions: </a:t>
            </a:r>
            <a:r>
              <a:rPr sz="1300" b="0" u="none">
                <a:solidFill>
                  <a:srgbClr val="000000"/>
                </a:solidFill>
                <a:latin typeface="Arial"/>
              </a:rPr>
              <a:t>unit_price already includes the discount (checked on all 18,000 rows); Completed = realized, Cancelled/Returned = not realized; Pending over 30 days = stuck; 171 impossible campaign rows excluded; stockout flag not trusted (760 of 760 flagged records still have stock).</a:t>
            </a:r>
          </a:p>
          <a:p>
            <a:pPr marL="285750" indent="-285750">
              <a:spcAft>
                <a:spcPts val="700"/>
              </a:spcAft>
              <a:buFont typeface="Arial"/>
              <a:buChar char="•"/>
            </a:pPr>
            <a:r>
              <a:rPr sz="1300" b="1" u="none">
                <a:solidFill>
                  <a:srgbClr val="000000"/>
                </a:solidFill>
                <a:latin typeface="Arial"/>
              </a:rPr>
              <a:t>Key insights: </a:t>
            </a:r>
            <a:r>
              <a:rPr sz="1300" b="0" u="none">
                <a:solidFill>
                  <a:srgbClr val="000000"/>
                </a:solidFill>
                <a:latin typeface="Arial"/>
              </a:rPr>
              <a:t>price below cost is the biggest leak; discounts add only 22K; 0 of 10 failure drivers are real; spend vs conversions r = -0.01; 7 products at high stock risk.</a:t>
            </a:r>
          </a:p>
        </p:txBody>
      </p:sp>
      <p:graphicFrame>
        <p:nvGraphicFramePr>
          <p:cNvPr id="10" name="Chart 9"/>
          <p:cNvGraphicFramePr>
            <a:graphicFrameLocks noGrp="1"/>
          </p:cNvGraphicFramePr>
          <p:nvPr/>
        </p:nvGraphicFramePr>
        <p:xfrm>
          <a:off x="7050000" y="1900000"/>
          <a:ext cx="4600000" cy="43000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783080" y="228600"/>
            <a:ext cx="8595360" cy="868680"/>
          </a:xfrm>
          <a:prstGeom prst="rect">
            <a:avLst/>
          </a:prstGeom>
          <a:noFill/>
        </p:spPr>
        <p:txBody>
          <a:bodyPr wrap="square" anchor="ctr">
            <a:spAutoFit/>
          </a:bodyPr>
          <a:lstStyle/>
          <a:p>
            <a:pPr algn="ctr"/>
            <a:r>
              <a:rPr sz="3000" b="0">
                <a:solidFill>
                  <a:srgbClr val="000000"/>
                </a:solidFill>
                <a:latin typeface="Arial Black"/>
              </a:rPr>
              <a:t>ML MODEL</a:t>
            </a:r>
          </a:p>
        </p:txBody>
      </p:sp>
      <p:pic>
        <p:nvPicPr>
          <p:cNvPr id="3" name="Picture 2" descr="logo-dsc-light.png"/>
          <p:cNvPicPr>
            <a:picLocks noChangeAspect="1"/>
          </p:cNvPicPr>
          <p:nvPr/>
        </p:nvPicPr>
        <p:blipFill>
          <a:blip r:embed="rId2"/>
          <a:stretch>
            <a:fillRect/>
          </a:stretch>
        </p:blipFill>
        <p:spPr>
          <a:xfrm>
            <a:off x="411480" y="137160"/>
            <a:ext cx="1144693" cy="914400"/>
          </a:xfrm>
          <a:prstGeom prst="rect">
            <a:avLst/>
          </a:prstGeom>
        </p:spPr>
      </p:pic>
      <p:pic>
        <p:nvPicPr>
          <p:cNvPr id="4" name="Picture 3" descr="logo-iiec-light.png"/>
          <p:cNvPicPr>
            <a:picLocks noChangeAspect="1"/>
          </p:cNvPicPr>
          <p:nvPr/>
        </p:nvPicPr>
        <p:blipFill>
          <a:blip r:embed="rId3"/>
          <a:stretch>
            <a:fillRect/>
          </a:stretch>
        </p:blipFill>
        <p:spPr>
          <a:xfrm>
            <a:off x="10241280" y="320040"/>
            <a:ext cx="1497850" cy="566928"/>
          </a:xfrm>
          <a:prstGeom prst="rect">
            <a:avLst/>
          </a:prstGeom>
        </p:spPr>
      </p:pic>
      <p:sp>
        <p:nvSpPr>
          <p:cNvPr id="5" name="Rectangle 4"/>
          <p:cNvSpPr/>
          <p:nvPr/>
        </p:nvSpPr>
        <p:spPr>
          <a:xfrm>
            <a:off x="0" y="6355080"/>
            <a:ext cx="12191695" cy="50292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6355080"/>
            <a:ext cx="12191695" cy="502920"/>
          </a:xfrm>
          <a:prstGeom prst="rect">
            <a:avLst/>
          </a:prstGeom>
          <a:noFill/>
        </p:spPr>
        <p:txBody>
          <a:bodyPr wrap="square" anchor="ctr">
            <a:spAutoFit/>
          </a:bodyPr>
          <a:lstStyle/>
          <a:p>
            <a:pPr algn="ctr"/>
            <a:r>
              <a:rPr sz="1200" b="1">
                <a:solidFill>
                  <a:srgbClr val="000000"/>
                </a:solidFill>
                <a:latin typeface="Arial"/>
              </a:rPr>
              <a:t>DATATHON 2026  ·  Round 1 Idea Submission – Template</a:t>
            </a:r>
          </a:p>
        </p:txBody>
      </p:sp>
      <p:sp>
        <p:nvSpPr>
          <p:cNvPr id="7" name="TextBox 6"/>
          <p:cNvSpPr txBox="1"/>
          <p:nvPr/>
        </p:nvSpPr>
        <p:spPr>
          <a:xfrm>
            <a:off x="10881360" y="6355080"/>
            <a:ext cx="1005840" cy="502920"/>
          </a:xfrm>
          <a:prstGeom prst="rect">
            <a:avLst/>
          </a:prstGeom>
          <a:noFill/>
        </p:spPr>
        <p:txBody>
          <a:bodyPr wrap="square" anchor="ctr">
            <a:spAutoFit/>
          </a:bodyPr>
          <a:lstStyle/>
          <a:p>
            <a:pPr algn="r"/>
            <a:r>
              <a:rPr sz="1300" b="1">
                <a:solidFill>
                  <a:srgbClr val="000000"/>
                </a:solidFill>
                <a:latin typeface="Arial"/>
              </a:rPr>
              <a:t>5</a:t>
            </a:r>
          </a:p>
        </p:txBody>
      </p:sp>
      <p:sp>
        <p:nvSpPr>
          <p:cNvPr id="8" name="TextBox 7"/>
          <p:cNvSpPr txBox="1"/>
          <p:nvPr/>
        </p:nvSpPr>
        <p:spPr>
          <a:xfrm>
            <a:off x="548640" y="1400000"/>
            <a:ext cx="11064240" cy="480000"/>
          </a:xfrm>
          <a:prstGeom prst="rect">
            <a:avLst/>
          </a:prstGeom>
          <a:noFill/>
        </p:spPr>
        <p:txBody>
          <a:bodyPr wrap="square">
            <a:spAutoFit/>
          </a:bodyPr>
          <a:lstStyle/>
          <a:p>
            <a:r>
              <a:rPr sz="2400" b="1" u="none">
                <a:solidFill>
                  <a:srgbClr val="000000"/>
                </a:solidFill>
                <a:latin typeface="Arial"/>
              </a:rPr>
              <a:t>❖ </a:t>
            </a:r>
            <a:r>
              <a:rPr sz="2400" b="1" u="sng">
                <a:solidFill>
                  <a:srgbClr val="000000"/>
                </a:solidFill>
                <a:latin typeface="Arial"/>
              </a:rPr>
              <a:t>ML Approach</a:t>
            </a:r>
          </a:p>
        </p:txBody>
      </p:sp>
      <p:sp>
        <p:nvSpPr>
          <p:cNvPr id="9" name="TextBox 8"/>
          <p:cNvSpPr txBox="1"/>
          <p:nvPr/>
        </p:nvSpPr>
        <p:spPr>
          <a:xfrm>
            <a:off x="548640" y="1900000"/>
            <a:ext cx="11064240" cy="2600000"/>
          </a:xfrm>
          <a:prstGeom prst="rect">
            <a:avLst/>
          </a:prstGeom>
          <a:noFill/>
        </p:spPr>
        <p:txBody>
          <a:bodyPr wrap="square">
            <a:spAutoFit/>
          </a:bodyPr>
          <a:lstStyle/>
          <a:p>
            <a:pPr marL="285750" indent="-285750">
              <a:spcAft>
                <a:spcPts val="600"/>
              </a:spcAft>
              <a:buFont typeface="Arial"/>
              <a:buChar char="•"/>
            </a:pPr>
            <a:r>
              <a:rPr sz="1300" b="1" u="none" dirty="0">
                <a:solidFill>
                  <a:srgbClr val="000000"/>
                </a:solidFill>
                <a:latin typeface="Arial"/>
              </a:rPr>
              <a:t>Built from scratch (NumPy only), no API key: </a:t>
            </a:r>
            <a:r>
              <a:rPr sz="1300" b="0" u="none" dirty="0">
                <a:solidFill>
                  <a:srgbClr val="000000"/>
                </a:solidFill>
                <a:latin typeface="Arial"/>
              </a:rPr>
              <a:t>logistic regression, random forest, gradient boosting, </a:t>
            </a:r>
            <a:r>
              <a:rPr sz="1300" b="0" u="none" dirty="0" err="1">
                <a:solidFill>
                  <a:srgbClr val="000000"/>
                </a:solidFill>
                <a:latin typeface="Arial"/>
              </a:rPr>
              <a:t>KMeans</a:t>
            </a:r>
            <a:r>
              <a:rPr sz="1300" b="0" u="none" dirty="0">
                <a:solidFill>
                  <a:srgbClr val="000000"/>
                </a:solidFill>
                <a:latin typeface="Arial"/>
              </a:rPr>
              <a:t> segments, robust z-score alerts, trend regression forecast.</a:t>
            </a:r>
          </a:p>
          <a:p>
            <a:pPr marL="285750" indent="-285750">
              <a:spcAft>
                <a:spcPts val="600"/>
              </a:spcAft>
              <a:buFont typeface="Arial"/>
              <a:buChar char="•"/>
            </a:pPr>
            <a:r>
              <a:rPr sz="1300" b="1" u="none" dirty="0">
                <a:solidFill>
                  <a:srgbClr val="000000"/>
                </a:solidFill>
                <a:latin typeface="Arial"/>
              </a:rPr>
              <a:t>Setup: </a:t>
            </a:r>
            <a:r>
              <a:rPr sz="1300" b="0" u="none" dirty="0">
                <a:solidFill>
                  <a:srgbClr val="000000"/>
                </a:solidFill>
                <a:latin typeface="Arial"/>
              </a:rPr>
              <a:t>target = order Cancelled or Returned. Features = quantity, price, discount, below-cost flag, category, region, segment, channel, payment, tenure, hour, weekday, lead days. Baseline = always 'no'. Split = time-aware (train Jan-Sep, test Oct-Dec). Metrics = AUC, accuracy, top-decile lift.</a:t>
            </a:r>
          </a:p>
          <a:p>
            <a:pPr marL="285750" indent="-285750">
              <a:spcAft>
                <a:spcPts val="600"/>
              </a:spcAft>
              <a:buFont typeface="Arial"/>
              <a:buChar char="•"/>
            </a:pPr>
            <a:r>
              <a:rPr sz="1300" b="1" u="none" dirty="0">
                <a:solidFill>
                  <a:srgbClr val="000000"/>
                </a:solidFill>
                <a:latin typeface="Arial"/>
              </a:rPr>
              <a:t>How output is used: </a:t>
            </a:r>
            <a:r>
              <a:rPr sz="1300" b="0" u="none" dirty="0">
                <a:solidFill>
                  <a:srgbClr val="000000"/>
                </a:solidFill>
                <a:latin typeface="Arial"/>
              </a:rPr>
              <a:t>best AUC is 0.52 (0.50 = coin flip), so the product does not score customers. It sends managers to the leaks that are real (pricing, stuck orders) and asks for cancel/return reason codes.</a:t>
            </a:r>
          </a:p>
        </p:txBody>
      </p:sp>
      <p:graphicFrame>
        <p:nvGraphicFramePr>
          <p:cNvPr id="10" name="Table 9"/>
          <p:cNvGraphicFramePr>
            <a:graphicFrameLocks noGrp="1"/>
          </p:cNvGraphicFramePr>
          <p:nvPr/>
        </p:nvGraphicFramePr>
        <p:xfrm>
          <a:off x="548640" y="4750000"/>
          <a:ext cx="11064237" cy="1360000"/>
        </p:xfrm>
        <a:graphic>
          <a:graphicData uri="http://schemas.openxmlformats.org/drawingml/2006/table">
            <a:tbl>
              <a:tblPr>
                <a:tableStyleId>{5940675A-B579-460E-94D1-54222C63F5DA}</a:tableStyleId>
              </a:tblPr>
              <a:tblGrid>
                <a:gridCol w="3761841">
                  <a:extLst>
                    <a:ext uri="{9D8B030D-6E8A-4147-A177-3AD203B41FA5}">
                      <a16:colId xmlns:a16="http://schemas.microsoft.com/office/drawing/2014/main" val="20000"/>
                    </a:ext>
                  </a:extLst>
                </a:gridCol>
                <a:gridCol w="1327708">
                  <a:extLst>
                    <a:ext uri="{9D8B030D-6E8A-4147-A177-3AD203B41FA5}">
                      <a16:colId xmlns:a16="http://schemas.microsoft.com/office/drawing/2014/main" val="20001"/>
                    </a:ext>
                  </a:extLst>
                </a:gridCol>
                <a:gridCol w="1770278">
                  <a:extLst>
                    <a:ext uri="{9D8B030D-6E8A-4147-A177-3AD203B41FA5}">
                      <a16:colId xmlns:a16="http://schemas.microsoft.com/office/drawing/2014/main" val="20002"/>
                    </a:ext>
                  </a:extLst>
                </a:gridCol>
                <a:gridCol w="2434132">
                  <a:extLst>
                    <a:ext uri="{9D8B030D-6E8A-4147-A177-3AD203B41FA5}">
                      <a16:colId xmlns:a16="http://schemas.microsoft.com/office/drawing/2014/main" val="20003"/>
                    </a:ext>
                  </a:extLst>
                </a:gridCol>
                <a:gridCol w="1770278">
                  <a:extLst>
                    <a:ext uri="{9D8B030D-6E8A-4147-A177-3AD203B41FA5}">
                      <a16:colId xmlns:a16="http://schemas.microsoft.com/office/drawing/2014/main" val="20004"/>
                    </a:ext>
                  </a:extLst>
                </a:gridCol>
              </a:tblGrid>
              <a:tr h="340000">
                <a:tc>
                  <a:txBody>
                    <a:bodyPr/>
                    <a:lstStyle/>
                    <a:p>
                      <a:r>
                        <a:rPr sz="1300" b="1" u="none">
                          <a:solidFill>
                            <a:srgbClr val="000000"/>
                          </a:solidFill>
                          <a:latin typeface="Arial"/>
                        </a:rPr>
                        <a:t>Model (from scratch)</a:t>
                      </a:r>
                    </a:p>
                  </a:txBody>
                  <a:tcPr anchor="ctr">
                    <a:solidFill>
                      <a:srgbClr val="19E3F5"/>
                    </a:solidFill>
                  </a:tcPr>
                </a:tc>
                <a:tc>
                  <a:txBody>
                    <a:bodyPr/>
                    <a:lstStyle/>
                    <a:p>
                      <a:r>
                        <a:rPr sz="1300" b="1" u="none">
                          <a:solidFill>
                            <a:srgbClr val="000000"/>
                          </a:solidFill>
                          <a:latin typeface="Arial"/>
                        </a:rPr>
                        <a:t>AUC</a:t>
                      </a:r>
                    </a:p>
                  </a:txBody>
                  <a:tcPr anchor="ctr">
                    <a:solidFill>
                      <a:srgbClr val="19E3F5"/>
                    </a:solidFill>
                  </a:tcPr>
                </a:tc>
                <a:tc>
                  <a:txBody>
                    <a:bodyPr/>
                    <a:lstStyle/>
                    <a:p>
                      <a:r>
                        <a:rPr sz="1300" b="1" u="none">
                          <a:solidFill>
                            <a:srgbClr val="000000"/>
                          </a:solidFill>
                          <a:latin typeface="Arial"/>
                        </a:rPr>
                        <a:t>Accuracy</a:t>
                      </a:r>
                    </a:p>
                  </a:txBody>
                  <a:tcPr anchor="ctr">
                    <a:solidFill>
                      <a:srgbClr val="19E3F5"/>
                    </a:solidFill>
                  </a:tcPr>
                </a:tc>
                <a:tc>
                  <a:txBody>
                    <a:bodyPr/>
                    <a:lstStyle/>
                    <a:p>
                      <a:r>
                        <a:rPr sz="1300" b="1" u="none">
                          <a:solidFill>
                            <a:srgbClr val="000000"/>
                          </a:solidFill>
                          <a:latin typeface="Arial"/>
                        </a:rPr>
                        <a:t>Always-'no' baseline</a:t>
                      </a:r>
                    </a:p>
                  </a:txBody>
                  <a:tcPr anchor="ctr">
                    <a:solidFill>
                      <a:srgbClr val="19E3F5"/>
                    </a:solidFill>
                  </a:tcPr>
                </a:tc>
                <a:tc>
                  <a:txBody>
                    <a:bodyPr/>
                    <a:lstStyle/>
                    <a:p>
                      <a:r>
                        <a:rPr sz="1300" b="1" u="none">
                          <a:solidFill>
                            <a:srgbClr val="000000"/>
                          </a:solidFill>
                          <a:latin typeface="Arial"/>
                        </a:rPr>
                        <a:t>Top-decile lift</a:t>
                      </a:r>
                    </a:p>
                  </a:txBody>
                  <a:tcPr anchor="ctr">
                    <a:solidFill>
                      <a:srgbClr val="19E3F5"/>
                    </a:solidFill>
                  </a:tcPr>
                </a:tc>
                <a:extLst>
                  <a:ext uri="{0D108BD9-81ED-4DB2-BD59-A6C34878D82A}">
                    <a16:rowId xmlns:a16="http://schemas.microsoft.com/office/drawing/2014/main" val="10000"/>
                  </a:ext>
                </a:extLst>
              </a:tr>
              <a:tr h="340000">
                <a:tc>
                  <a:txBody>
                    <a:bodyPr/>
                    <a:lstStyle/>
                    <a:p>
                      <a:r>
                        <a:rPr sz="1300" b="0" u="none">
                          <a:solidFill>
                            <a:srgbClr val="000000"/>
                          </a:solidFill>
                          <a:latin typeface="Arial"/>
                        </a:rPr>
                        <a:t>Logistic Regression (scratch)</a:t>
                      </a:r>
                    </a:p>
                  </a:txBody>
                  <a:tcPr anchor="ctr">
                    <a:solidFill>
                      <a:srgbClr val="FFFFFF"/>
                    </a:solidFill>
                  </a:tcPr>
                </a:tc>
                <a:tc>
                  <a:txBody>
                    <a:bodyPr/>
                    <a:lstStyle/>
                    <a:p>
                      <a:r>
                        <a:rPr sz="1300" b="0" u="none">
                          <a:solidFill>
                            <a:srgbClr val="000000"/>
                          </a:solidFill>
                          <a:latin typeface="Arial"/>
                        </a:rPr>
                        <a:t>0.501</a:t>
                      </a:r>
                    </a:p>
                  </a:txBody>
                  <a:tcPr anchor="ctr">
                    <a:solidFill>
                      <a:srgbClr val="FFFFFF"/>
                    </a:solidFill>
                  </a:tcPr>
                </a:tc>
                <a:tc>
                  <a:txBody>
                    <a:bodyPr/>
                    <a:lstStyle/>
                    <a:p>
                      <a:r>
                        <a:rPr sz="1300" b="0" u="none">
                          <a:solidFill>
                            <a:srgbClr val="000000"/>
                          </a:solidFill>
                          <a:latin typeface="Arial"/>
                        </a:rPr>
                        <a:t>0.829</a:t>
                      </a:r>
                    </a:p>
                  </a:txBody>
                  <a:tcPr anchor="ctr">
                    <a:solidFill>
                      <a:srgbClr val="FFFFFF"/>
                    </a:solidFill>
                  </a:tcPr>
                </a:tc>
                <a:tc>
                  <a:txBody>
                    <a:bodyPr/>
                    <a:lstStyle/>
                    <a:p>
                      <a:r>
                        <a:rPr sz="1300" b="0" u="none">
                          <a:solidFill>
                            <a:srgbClr val="000000"/>
                          </a:solidFill>
                          <a:latin typeface="Arial"/>
                        </a:rPr>
                        <a:t>0.829</a:t>
                      </a:r>
                    </a:p>
                  </a:txBody>
                  <a:tcPr anchor="ctr">
                    <a:solidFill>
                      <a:srgbClr val="FFFFFF"/>
                    </a:solidFill>
                  </a:tcPr>
                </a:tc>
                <a:tc>
                  <a:txBody>
                    <a:bodyPr/>
                    <a:lstStyle/>
                    <a:p>
                      <a:r>
                        <a:rPr sz="1300" b="0" u="none">
                          <a:solidFill>
                            <a:srgbClr val="000000"/>
                          </a:solidFill>
                          <a:latin typeface="Arial"/>
                        </a:rPr>
                        <a:t>1.02</a:t>
                      </a:r>
                    </a:p>
                  </a:txBody>
                  <a:tcPr anchor="ctr">
                    <a:solidFill>
                      <a:srgbClr val="FFFFFF"/>
                    </a:solidFill>
                  </a:tcPr>
                </a:tc>
                <a:extLst>
                  <a:ext uri="{0D108BD9-81ED-4DB2-BD59-A6C34878D82A}">
                    <a16:rowId xmlns:a16="http://schemas.microsoft.com/office/drawing/2014/main" val="10001"/>
                  </a:ext>
                </a:extLst>
              </a:tr>
              <a:tr h="340000">
                <a:tc>
                  <a:txBody>
                    <a:bodyPr/>
                    <a:lstStyle/>
                    <a:p>
                      <a:r>
                        <a:rPr sz="1300" b="0" u="none">
                          <a:solidFill>
                            <a:srgbClr val="000000"/>
                          </a:solidFill>
                          <a:latin typeface="Arial"/>
                        </a:rPr>
                        <a:t>Random Forest (scratch)</a:t>
                      </a:r>
                    </a:p>
                  </a:txBody>
                  <a:tcPr anchor="ctr">
                    <a:solidFill>
                      <a:srgbClr val="F1F5F9"/>
                    </a:solidFill>
                  </a:tcPr>
                </a:tc>
                <a:tc>
                  <a:txBody>
                    <a:bodyPr/>
                    <a:lstStyle/>
                    <a:p>
                      <a:r>
                        <a:rPr sz="1300" b="0" u="none">
                          <a:solidFill>
                            <a:srgbClr val="000000"/>
                          </a:solidFill>
                          <a:latin typeface="Arial"/>
                        </a:rPr>
                        <a:t>0.503</a:t>
                      </a:r>
                    </a:p>
                  </a:txBody>
                  <a:tcPr anchor="ctr">
                    <a:solidFill>
                      <a:srgbClr val="F1F5F9"/>
                    </a:solidFill>
                  </a:tcPr>
                </a:tc>
                <a:tc>
                  <a:txBody>
                    <a:bodyPr/>
                    <a:lstStyle/>
                    <a:p>
                      <a:r>
                        <a:rPr sz="1300" b="0" u="none">
                          <a:solidFill>
                            <a:srgbClr val="000000"/>
                          </a:solidFill>
                          <a:latin typeface="Arial"/>
                        </a:rPr>
                        <a:t>0.829</a:t>
                      </a:r>
                    </a:p>
                  </a:txBody>
                  <a:tcPr anchor="ctr">
                    <a:solidFill>
                      <a:srgbClr val="F1F5F9"/>
                    </a:solidFill>
                  </a:tcPr>
                </a:tc>
                <a:tc>
                  <a:txBody>
                    <a:bodyPr/>
                    <a:lstStyle/>
                    <a:p>
                      <a:r>
                        <a:rPr sz="1300" b="0" u="none">
                          <a:solidFill>
                            <a:srgbClr val="000000"/>
                          </a:solidFill>
                          <a:latin typeface="Arial"/>
                        </a:rPr>
                        <a:t>0.829</a:t>
                      </a:r>
                    </a:p>
                  </a:txBody>
                  <a:tcPr anchor="ctr">
                    <a:solidFill>
                      <a:srgbClr val="F1F5F9"/>
                    </a:solidFill>
                  </a:tcPr>
                </a:tc>
                <a:tc>
                  <a:txBody>
                    <a:bodyPr/>
                    <a:lstStyle/>
                    <a:p>
                      <a:r>
                        <a:rPr sz="1300" b="0" u="none">
                          <a:solidFill>
                            <a:srgbClr val="000000"/>
                          </a:solidFill>
                          <a:latin typeface="Arial"/>
                        </a:rPr>
                        <a:t>1.00</a:t>
                      </a:r>
                    </a:p>
                  </a:txBody>
                  <a:tcPr anchor="ctr">
                    <a:solidFill>
                      <a:srgbClr val="F1F5F9"/>
                    </a:solidFill>
                  </a:tcPr>
                </a:tc>
                <a:extLst>
                  <a:ext uri="{0D108BD9-81ED-4DB2-BD59-A6C34878D82A}">
                    <a16:rowId xmlns:a16="http://schemas.microsoft.com/office/drawing/2014/main" val="10002"/>
                  </a:ext>
                </a:extLst>
              </a:tr>
              <a:tr h="340000">
                <a:tc>
                  <a:txBody>
                    <a:bodyPr/>
                    <a:lstStyle/>
                    <a:p>
                      <a:r>
                        <a:rPr sz="1300" b="0" u="none">
                          <a:solidFill>
                            <a:srgbClr val="000000"/>
                          </a:solidFill>
                          <a:latin typeface="Arial"/>
                        </a:rPr>
                        <a:t>Gradient Boosting (scratch)</a:t>
                      </a:r>
                    </a:p>
                  </a:txBody>
                  <a:tcPr anchor="ctr">
                    <a:solidFill>
                      <a:srgbClr val="FFFFFF"/>
                    </a:solidFill>
                  </a:tcPr>
                </a:tc>
                <a:tc>
                  <a:txBody>
                    <a:bodyPr/>
                    <a:lstStyle/>
                    <a:p>
                      <a:r>
                        <a:rPr sz="1300" b="0" u="none">
                          <a:solidFill>
                            <a:srgbClr val="000000"/>
                          </a:solidFill>
                          <a:latin typeface="Arial"/>
                        </a:rPr>
                        <a:t>0.524</a:t>
                      </a:r>
                    </a:p>
                  </a:txBody>
                  <a:tcPr anchor="ctr">
                    <a:solidFill>
                      <a:srgbClr val="FFFFFF"/>
                    </a:solidFill>
                  </a:tcPr>
                </a:tc>
                <a:tc>
                  <a:txBody>
                    <a:bodyPr/>
                    <a:lstStyle/>
                    <a:p>
                      <a:r>
                        <a:rPr sz="1300" b="0" u="none">
                          <a:solidFill>
                            <a:srgbClr val="000000"/>
                          </a:solidFill>
                          <a:latin typeface="Arial"/>
                        </a:rPr>
                        <a:t>0.829</a:t>
                      </a:r>
                    </a:p>
                  </a:txBody>
                  <a:tcPr anchor="ctr">
                    <a:solidFill>
                      <a:srgbClr val="FFFFFF"/>
                    </a:solidFill>
                  </a:tcPr>
                </a:tc>
                <a:tc>
                  <a:txBody>
                    <a:bodyPr/>
                    <a:lstStyle/>
                    <a:p>
                      <a:r>
                        <a:rPr sz="1300" b="0" u="none">
                          <a:solidFill>
                            <a:srgbClr val="000000"/>
                          </a:solidFill>
                          <a:latin typeface="Arial"/>
                        </a:rPr>
                        <a:t>0.829</a:t>
                      </a:r>
                    </a:p>
                  </a:txBody>
                  <a:tcPr anchor="ctr">
                    <a:solidFill>
                      <a:srgbClr val="FFFFFF"/>
                    </a:solidFill>
                  </a:tcPr>
                </a:tc>
                <a:tc>
                  <a:txBody>
                    <a:bodyPr/>
                    <a:lstStyle/>
                    <a:p>
                      <a:r>
                        <a:rPr sz="1300" b="0" u="none">
                          <a:solidFill>
                            <a:srgbClr val="000000"/>
                          </a:solidFill>
                          <a:latin typeface="Arial"/>
                        </a:rPr>
                        <a:t>1.05</a:t>
                      </a:r>
                    </a:p>
                  </a:txBody>
                  <a:tcPr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783080" y="228600"/>
            <a:ext cx="8595360" cy="868680"/>
          </a:xfrm>
          <a:prstGeom prst="rect">
            <a:avLst/>
          </a:prstGeom>
          <a:noFill/>
        </p:spPr>
        <p:txBody>
          <a:bodyPr wrap="square" anchor="ctr">
            <a:spAutoFit/>
          </a:bodyPr>
          <a:lstStyle/>
          <a:p>
            <a:pPr algn="ctr"/>
            <a:r>
              <a:rPr sz="3000" b="0">
                <a:solidFill>
                  <a:srgbClr val="000000"/>
                </a:solidFill>
                <a:latin typeface="Arial Black"/>
              </a:rPr>
              <a:t>BASE PROTOTYPE &amp; MVP</a:t>
            </a:r>
          </a:p>
        </p:txBody>
      </p:sp>
      <p:pic>
        <p:nvPicPr>
          <p:cNvPr id="3" name="Picture 2" descr="logo-dsc-light.png"/>
          <p:cNvPicPr>
            <a:picLocks noChangeAspect="1"/>
          </p:cNvPicPr>
          <p:nvPr/>
        </p:nvPicPr>
        <p:blipFill>
          <a:blip r:embed="rId2"/>
          <a:stretch>
            <a:fillRect/>
          </a:stretch>
        </p:blipFill>
        <p:spPr>
          <a:xfrm>
            <a:off x="411480" y="137160"/>
            <a:ext cx="1144693" cy="914400"/>
          </a:xfrm>
          <a:prstGeom prst="rect">
            <a:avLst/>
          </a:prstGeom>
        </p:spPr>
      </p:pic>
      <p:pic>
        <p:nvPicPr>
          <p:cNvPr id="4" name="Picture 3" descr="logo-iiec-light.png"/>
          <p:cNvPicPr>
            <a:picLocks noChangeAspect="1"/>
          </p:cNvPicPr>
          <p:nvPr/>
        </p:nvPicPr>
        <p:blipFill>
          <a:blip r:embed="rId3"/>
          <a:stretch>
            <a:fillRect/>
          </a:stretch>
        </p:blipFill>
        <p:spPr>
          <a:xfrm>
            <a:off x="10241280" y="320040"/>
            <a:ext cx="1497850" cy="566928"/>
          </a:xfrm>
          <a:prstGeom prst="rect">
            <a:avLst/>
          </a:prstGeom>
        </p:spPr>
      </p:pic>
      <p:sp>
        <p:nvSpPr>
          <p:cNvPr id="5" name="Rectangle 4"/>
          <p:cNvSpPr/>
          <p:nvPr/>
        </p:nvSpPr>
        <p:spPr>
          <a:xfrm>
            <a:off x="0" y="6355080"/>
            <a:ext cx="12191695" cy="50292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6355080"/>
            <a:ext cx="12191695" cy="502920"/>
          </a:xfrm>
          <a:prstGeom prst="rect">
            <a:avLst/>
          </a:prstGeom>
          <a:noFill/>
        </p:spPr>
        <p:txBody>
          <a:bodyPr wrap="square" anchor="ctr">
            <a:spAutoFit/>
          </a:bodyPr>
          <a:lstStyle/>
          <a:p>
            <a:pPr algn="ctr"/>
            <a:r>
              <a:rPr sz="1200" b="1">
                <a:solidFill>
                  <a:srgbClr val="000000"/>
                </a:solidFill>
                <a:latin typeface="Arial"/>
              </a:rPr>
              <a:t>DATATHON 2026  ·  Round 1 Idea Submission – Template</a:t>
            </a:r>
          </a:p>
        </p:txBody>
      </p:sp>
      <p:sp>
        <p:nvSpPr>
          <p:cNvPr id="7" name="TextBox 6"/>
          <p:cNvSpPr txBox="1"/>
          <p:nvPr/>
        </p:nvSpPr>
        <p:spPr>
          <a:xfrm>
            <a:off x="10881360" y="6355080"/>
            <a:ext cx="1005840" cy="502920"/>
          </a:xfrm>
          <a:prstGeom prst="rect">
            <a:avLst/>
          </a:prstGeom>
          <a:noFill/>
        </p:spPr>
        <p:txBody>
          <a:bodyPr wrap="square" anchor="ctr">
            <a:spAutoFit/>
          </a:bodyPr>
          <a:lstStyle/>
          <a:p>
            <a:pPr algn="r"/>
            <a:r>
              <a:rPr sz="1300" b="1">
                <a:solidFill>
                  <a:srgbClr val="000000"/>
                </a:solidFill>
                <a:latin typeface="Arial"/>
              </a:rPr>
              <a:t>6</a:t>
            </a:r>
          </a:p>
        </p:txBody>
      </p:sp>
      <p:sp>
        <p:nvSpPr>
          <p:cNvPr id="8" name="TextBox 7"/>
          <p:cNvSpPr txBox="1"/>
          <p:nvPr/>
        </p:nvSpPr>
        <p:spPr>
          <a:xfrm>
            <a:off x="548640" y="1400000"/>
            <a:ext cx="11064240" cy="480000"/>
          </a:xfrm>
          <a:prstGeom prst="rect">
            <a:avLst/>
          </a:prstGeom>
          <a:noFill/>
        </p:spPr>
        <p:txBody>
          <a:bodyPr wrap="square">
            <a:spAutoFit/>
          </a:bodyPr>
          <a:lstStyle/>
          <a:p>
            <a:r>
              <a:rPr sz="2400" b="1" u="none">
                <a:solidFill>
                  <a:srgbClr val="000000"/>
                </a:solidFill>
                <a:latin typeface="Arial"/>
              </a:rPr>
              <a:t>❖ </a:t>
            </a:r>
            <a:r>
              <a:rPr sz="2400" b="1" u="sng">
                <a:solidFill>
                  <a:srgbClr val="000000"/>
                </a:solidFill>
                <a:latin typeface="Arial"/>
              </a:rPr>
              <a:t>Base Prototype (Round 1)</a:t>
            </a:r>
          </a:p>
        </p:txBody>
      </p:sp>
      <p:sp>
        <p:nvSpPr>
          <p:cNvPr id="9" name="TextBox 8"/>
          <p:cNvSpPr txBox="1"/>
          <p:nvPr/>
        </p:nvSpPr>
        <p:spPr>
          <a:xfrm>
            <a:off x="548640" y="1950000"/>
            <a:ext cx="11064240" cy="450000"/>
          </a:xfrm>
          <a:prstGeom prst="rect">
            <a:avLst/>
          </a:prstGeom>
          <a:noFill/>
        </p:spPr>
        <p:txBody>
          <a:bodyPr wrap="square">
            <a:spAutoFit/>
          </a:bodyPr>
          <a:lstStyle/>
          <a:p>
            <a:pPr marL="285750" indent="-285750">
              <a:spcAft>
                <a:spcPts val="400"/>
              </a:spcAft>
              <a:buFont typeface="Arial"/>
              <a:buChar char="•"/>
            </a:pPr>
            <a:r>
              <a:rPr sz="1400" b="0" u="none">
                <a:solidFill>
                  <a:srgbClr val="000000"/>
                </a:solidFill>
                <a:latin typeface="Arial"/>
              </a:rPr>
              <a:t>Working Streamlit app on the provided data, 8 tabs (below). [Add screenshot / public link here]</a:t>
            </a:r>
          </a:p>
        </p:txBody>
      </p:sp>
      <p:sp>
        <p:nvSpPr>
          <p:cNvPr id="10" name="Rounded Rectangle 9"/>
          <p:cNvSpPr/>
          <p:nvPr/>
        </p:nvSpPr>
        <p:spPr>
          <a:xfrm>
            <a:off x="548640" y="2480000"/>
            <a:ext cx="1300000" cy="420000"/>
          </a:xfrm>
          <a:prstGeom prst="round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100" b="1" u="none">
                <a:solidFill>
                  <a:srgbClr val="000000"/>
                </a:solidFill>
                <a:latin typeface="Arial"/>
              </a:rPr>
              <a:t>Command Center</a:t>
            </a:r>
          </a:p>
        </p:txBody>
      </p:sp>
      <p:sp>
        <p:nvSpPr>
          <p:cNvPr id="11" name="Rounded Rectangle 10"/>
          <p:cNvSpPr/>
          <p:nvPr/>
        </p:nvSpPr>
        <p:spPr>
          <a:xfrm>
            <a:off x="1942640" y="2480000"/>
            <a:ext cx="1300000" cy="420000"/>
          </a:xfrm>
          <a:prstGeom prst="round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100" b="1" u="none">
                <a:solidFill>
                  <a:srgbClr val="000000"/>
                </a:solidFill>
                <a:latin typeface="Arial"/>
              </a:rPr>
              <a:t>Investigate</a:t>
            </a:r>
          </a:p>
        </p:txBody>
      </p:sp>
      <p:sp>
        <p:nvSpPr>
          <p:cNvPr id="12" name="Rounded Rectangle 11"/>
          <p:cNvSpPr/>
          <p:nvPr/>
        </p:nvSpPr>
        <p:spPr>
          <a:xfrm>
            <a:off x="3336640" y="2480000"/>
            <a:ext cx="1300000" cy="420000"/>
          </a:xfrm>
          <a:prstGeom prst="round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100" b="1" u="none">
                <a:solidFill>
                  <a:srgbClr val="000000"/>
                </a:solidFill>
                <a:latin typeface="Arial"/>
              </a:rPr>
              <a:t>Pricing Leak</a:t>
            </a:r>
          </a:p>
        </p:txBody>
      </p:sp>
      <p:sp>
        <p:nvSpPr>
          <p:cNvPr id="13" name="Rounded Rectangle 12"/>
          <p:cNvSpPr/>
          <p:nvPr/>
        </p:nvSpPr>
        <p:spPr>
          <a:xfrm>
            <a:off x="4730640" y="2480000"/>
            <a:ext cx="1300000" cy="420000"/>
          </a:xfrm>
          <a:prstGeom prst="round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100" b="1" u="none">
                <a:solidFill>
                  <a:srgbClr val="000000"/>
                </a:solidFill>
                <a:latin typeface="Arial"/>
              </a:rPr>
              <a:t>Stock Risk</a:t>
            </a:r>
          </a:p>
        </p:txBody>
      </p:sp>
      <p:sp>
        <p:nvSpPr>
          <p:cNvPr id="14" name="Rounded Rectangle 13"/>
          <p:cNvSpPr/>
          <p:nvPr/>
        </p:nvSpPr>
        <p:spPr>
          <a:xfrm>
            <a:off x="6124640" y="2480000"/>
            <a:ext cx="1300000" cy="420000"/>
          </a:xfrm>
          <a:prstGeom prst="round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100" b="1" u="none">
                <a:solidFill>
                  <a:srgbClr val="000000"/>
                </a:solidFill>
                <a:latin typeface="Arial"/>
              </a:rPr>
              <a:t>Campaigns</a:t>
            </a:r>
          </a:p>
        </p:txBody>
      </p:sp>
      <p:sp>
        <p:nvSpPr>
          <p:cNvPr id="15" name="Rounded Rectangle 14"/>
          <p:cNvSpPr/>
          <p:nvPr/>
        </p:nvSpPr>
        <p:spPr>
          <a:xfrm>
            <a:off x="7518640" y="2480000"/>
            <a:ext cx="1300000" cy="420000"/>
          </a:xfrm>
          <a:prstGeom prst="round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100" b="1" u="none">
                <a:solidFill>
                  <a:srgbClr val="000000"/>
                </a:solidFill>
                <a:latin typeface="Arial"/>
              </a:rPr>
              <a:t>Forecast &amp; Alerts</a:t>
            </a:r>
          </a:p>
        </p:txBody>
      </p:sp>
      <p:sp>
        <p:nvSpPr>
          <p:cNvPr id="16" name="Rounded Rectangle 15"/>
          <p:cNvSpPr/>
          <p:nvPr/>
        </p:nvSpPr>
        <p:spPr>
          <a:xfrm>
            <a:off x="8912640" y="2480000"/>
            <a:ext cx="1300000" cy="420000"/>
          </a:xfrm>
          <a:prstGeom prst="round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100" b="1" u="none">
                <a:solidFill>
                  <a:srgbClr val="000000"/>
                </a:solidFill>
                <a:latin typeface="Arial"/>
              </a:rPr>
              <a:t>ML Lab</a:t>
            </a:r>
          </a:p>
        </p:txBody>
      </p:sp>
      <p:sp>
        <p:nvSpPr>
          <p:cNvPr id="17" name="Rounded Rectangle 16"/>
          <p:cNvSpPr/>
          <p:nvPr/>
        </p:nvSpPr>
        <p:spPr>
          <a:xfrm>
            <a:off x="10306640" y="2480000"/>
            <a:ext cx="1300000" cy="420000"/>
          </a:xfrm>
          <a:prstGeom prst="round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100" b="1" u="none">
                <a:solidFill>
                  <a:srgbClr val="000000"/>
                </a:solidFill>
                <a:latin typeface="Arial"/>
              </a:rPr>
              <a:t>Action Plan</a:t>
            </a:r>
          </a:p>
        </p:txBody>
      </p:sp>
      <p:sp>
        <p:nvSpPr>
          <p:cNvPr id="18" name="TextBox 17"/>
          <p:cNvSpPr txBox="1"/>
          <p:nvPr/>
        </p:nvSpPr>
        <p:spPr>
          <a:xfrm>
            <a:off x="548640" y="3100000"/>
            <a:ext cx="11064240" cy="480000"/>
          </a:xfrm>
          <a:prstGeom prst="rect">
            <a:avLst/>
          </a:prstGeom>
          <a:noFill/>
        </p:spPr>
        <p:txBody>
          <a:bodyPr wrap="square">
            <a:spAutoFit/>
          </a:bodyPr>
          <a:lstStyle/>
          <a:p>
            <a:r>
              <a:rPr sz="2400" b="1" u="none">
                <a:solidFill>
                  <a:srgbClr val="000000"/>
                </a:solidFill>
                <a:latin typeface="Arial"/>
              </a:rPr>
              <a:t>❖ </a:t>
            </a:r>
            <a:r>
              <a:rPr sz="2400" b="1" u="sng">
                <a:solidFill>
                  <a:srgbClr val="000000"/>
                </a:solidFill>
                <a:latin typeface="Arial"/>
              </a:rPr>
              <a:t>MVP for Round 2</a:t>
            </a:r>
            <a:r>
              <a:rPr sz="1400" b="0" u="none">
                <a:solidFill>
                  <a:srgbClr val="555555"/>
                </a:solidFill>
                <a:latin typeface="Arial"/>
              </a:rPr>
              <a:t>  </a:t>
            </a:r>
          </a:p>
        </p:txBody>
      </p:sp>
      <p:sp>
        <p:nvSpPr>
          <p:cNvPr id="19" name="TextBox 18"/>
          <p:cNvSpPr txBox="1"/>
          <p:nvPr/>
        </p:nvSpPr>
        <p:spPr>
          <a:xfrm>
            <a:off x="548640" y="3650000"/>
            <a:ext cx="11064240" cy="2500000"/>
          </a:xfrm>
          <a:prstGeom prst="rect">
            <a:avLst/>
          </a:prstGeom>
          <a:noFill/>
        </p:spPr>
        <p:txBody>
          <a:bodyPr wrap="square">
            <a:spAutoFit/>
          </a:bodyPr>
          <a:lstStyle/>
          <a:p>
            <a:pPr marL="285750" indent="-285750">
              <a:spcAft>
                <a:spcPts val="600"/>
              </a:spcAft>
              <a:buFont typeface="Arial"/>
              <a:buChar char="•"/>
            </a:pPr>
            <a:r>
              <a:rPr sz="1400" b="1" u="none">
                <a:solidFill>
                  <a:srgbClr val="000000"/>
                </a:solidFill>
                <a:latin typeface="Arial"/>
              </a:rPr>
              <a:t>Must-haves: </a:t>
            </a:r>
            <a:r>
              <a:rPr sz="1400" b="0" u="none">
                <a:solidFill>
                  <a:srgbClr val="000000"/>
                </a:solidFill>
                <a:latin typeface="Arial"/>
              </a:rPr>
              <a:t>ranked action plan with impact and confidence; pricing what-if with downloadable repricing list; 'why flagged' evidence on every alert; stock-risk monitor; campaign efficiency view.</a:t>
            </a:r>
          </a:p>
          <a:p>
            <a:pPr marL="285750" indent="-285750">
              <a:spcAft>
                <a:spcPts val="600"/>
              </a:spcAft>
              <a:buFont typeface="Arial"/>
              <a:buChar char="•"/>
            </a:pPr>
            <a:r>
              <a:rPr sz="1400" b="1" u="none">
                <a:solidFill>
                  <a:srgbClr val="000000"/>
                </a:solidFill>
                <a:latin typeface="Arial"/>
              </a:rPr>
              <a:t>Demo workflow: </a:t>
            </a:r>
            <a:r>
              <a:rPr sz="1400" b="0" u="none">
                <a:solidFill>
                  <a:srgbClr val="000000"/>
                </a:solidFill>
                <a:latin typeface="Arial"/>
              </a:rPr>
              <a:t>input (filters and sliders) -&gt; output (ranked leaks with evidence) -&gt; action (repricing list, stuck-order queue, tracking audit).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783080" y="228600"/>
            <a:ext cx="8595360" cy="868680"/>
          </a:xfrm>
          <a:prstGeom prst="rect">
            <a:avLst/>
          </a:prstGeom>
          <a:noFill/>
        </p:spPr>
        <p:txBody>
          <a:bodyPr wrap="square" anchor="ctr">
            <a:spAutoFit/>
          </a:bodyPr>
          <a:lstStyle/>
          <a:p>
            <a:pPr algn="ctr"/>
            <a:r>
              <a:rPr sz="3000" b="0">
                <a:solidFill>
                  <a:srgbClr val="000000"/>
                </a:solidFill>
                <a:latin typeface="Arial Black"/>
              </a:rPr>
              <a:t>TECHNICAL APPROACH</a:t>
            </a:r>
          </a:p>
        </p:txBody>
      </p:sp>
      <p:pic>
        <p:nvPicPr>
          <p:cNvPr id="3" name="Picture 2" descr="logo-dsc-light.png"/>
          <p:cNvPicPr>
            <a:picLocks noChangeAspect="1"/>
          </p:cNvPicPr>
          <p:nvPr/>
        </p:nvPicPr>
        <p:blipFill>
          <a:blip r:embed="rId2"/>
          <a:stretch>
            <a:fillRect/>
          </a:stretch>
        </p:blipFill>
        <p:spPr>
          <a:xfrm>
            <a:off x="411480" y="137160"/>
            <a:ext cx="1144693" cy="914400"/>
          </a:xfrm>
          <a:prstGeom prst="rect">
            <a:avLst/>
          </a:prstGeom>
        </p:spPr>
      </p:pic>
      <p:pic>
        <p:nvPicPr>
          <p:cNvPr id="4" name="Picture 3" descr="logo-iiec-light.png"/>
          <p:cNvPicPr>
            <a:picLocks noChangeAspect="1"/>
          </p:cNvPicPr>
          <p:nvPr/>
        </p:nvPicPr>
        <p:blipFill>
          <a:blip r:embed="rId3"/>
          <a:stretch>
            <a:fillRect/>
          </a:stretch>
        </p:blipFill>
        <p:spPr>
          <a:xfrm>
            <a:off x="10241280" y="320040"/>
            <a:ext cx="1497850" cy="566928"/>
          </a:xfrm>
          <a:prstGeom prst="rect">
            <a:avLst/>
          </a:prstGeom>
        </p:spPr>
      </p:pic>
      <p:sp>
        <p:nvSpPr>
          <p:cNvPr id="5" name="Rectangle 4"/>
          <p:cNvSpPr/>
          <p:nvPr/>
        </p:nvSpPr>
        <p:spPr>
          <a:xfrm>
            <a:off x="0" y="6355080"/>
            <a:ext cx="12191695" cy="50292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6355080"/>
            <a:ext cx="12191695" cy="502920"/>
          </a:xfrm>
          <a:prstGeom prst="rect">
            <a:avLst/>
          </a:prstGeom>
          <a:noFill/>
        </p:spPr>
        <p:txBody>
          <a:bodyPr wrap="square" anchor="ctr">
            <a:spAutoFit/>
          </a:bodyPr>
          <a:lstStyle/>
          <a:p>
            <a:pPr algn="ctr"/>
            <a:r>
              <a:rPr sz="1200" b="1">
                <a:solidFill>
                  <a:srgbClr val="000000"/>
                </a:solidFill>
                <a:latin typeface="Arial"/>
              </a:rPr>
              <a:t>DATATHON 2026  ·  Round 1 Idea Submission – Template</a:t>
            </a:r>
          </a:p>
        </p:txBody>
      </p:sp>
      <p:sp>
        <p:nvSpPr>
          <p:cNvPr id="7" name="TextBox 6"/>
          <p:cNvSpPr txBox="1"/>
          <p:nvPr/>
        </p:nvSpPr>
        <p:spPr>
          <a:xfrm>
            <a:off x="10881360" y="6355080"/>
            <a:ext cx="1005840" cy="502920"/>
          </a:xfrm>
          <a:prstGeom prst="rect">
            <a:avLst/>
          </a:prstGeom>
          <a:noFill/>
        </p:spPr>
        <p:txBody>
          <a:bodyPr wrap="square" anchor="ctr">
            <a:spAutoFit/>
          </a:bodyPr>
          <a:lstStyle/>
          <a:p>
            <a:pPr algn="r"/>
            <a:r>
              <a:rPr sz="1300" b="1">
                <a:solidFill>
                  <a:srgbClr val="000000"/>
                </a:solidFill>
                <a:latin typeface="Arial"/>
              </a:rPr>
              <a:t>7</a:t>
            </a:r>
          </a:p>
        </p:txBody>
      </p:sp>
      <p:sp>
        <p:nvSpPr>
          <p:cNvPr id="8" name="TextBox 7"/>
          <p:cNvSpPr txBox="1"/>
          <p:nvPr/>
        </p:nvSpPr>
        <p:spPr>
          <a:xfrm>
            <a:off x="548640" y="1400000"/>
            <a:ext cx="11064240" cy="480000"/>
          </a:xfrm>
          <a:prstGeom prst="rect">
            <a:avLst/>
          </a:prstGeom>
          <a:noFill/>
        </p:spPr>
        <p:txBody>
          <a:bodyPr wrap="square">
            <a:spAutoFit/>
          </a:bodyPr>
          <a:lstStyle/>
          <a:p>
            <a:r>
              <a:rPr sz="2400" b="1" u="none">
                <a:solidFill>
                  <a:srgbClr val="000000"/>
                </a:solidFill>
                <a:latin typeface="Arial"/>
              </a:rPr>
              <a:t>❖ </a:t>
            </a:r>
            <a:r>
              <a:rPr sz="2400" b="1" u="sng">
                <a:solidFill>
                  <a:srgbClr val="000000"/>
                </a:solidFill>
                <a:latin typeface="Arial"/>
              </a:rPr>
              <a:t>Technical Approach</a:t>
            </a:r>
          </a:p>
        </p:txBody>
      </p:sp>
      <p:sp>
        <p:nvSpPr>
          <p:cNvPr id="9" name="TextBox 8"/>
          <p:cNvSpPr txBox="1"/>
          <p:nvPr/>
        </p:nvSpPr>
        <p:spPr>
          <a:xfrm>
            <a:off x="548640" y="1950000"/>
            <a:ext cx="11064240" cy="1100000"/>
          </a:xfrm>
          <a:prstGeom prst="rect">
            <a:avLst/>
          </a:prstGeom>
          <a:noFill/>
        </p:spPr>
        <p:txBody>
          <a:bodyPr wrap="square">
            <a:spAutoFit/>
          </a:bodyPr>
          <a:lstStyle/>
          <a:p>
            <a:pPr marL="285750" indent="-285750">
              <a:spcAft>
                <a:spcPts val="600"/>
              </a:spcAft>
              <a:buFont typeface="Arial"/>
              <a:buChar char="•"/>
            </a:pPr>
            <a:r>
              <a:rPr sz="1500" b="1" u="none">
                <a:solidFill>
                  <a:srgbClr val="000000"/>
                </a:solidFill>
                <a:latin typeface="Arial"/>
              </a:rPr>
              <a:t>Technologies: </a:t>
            </a:r>
            <a:r>
              <a:rPr sz="1500" b="0" u="none">
                <a:solidFill>
                  <a:srgbClr val="000000"/>
                </a:solidFill>
                <a:latin typeface="Arial"/>
              </a:rPr>
              <a:t>Python, pandas, NumPy (all ML written from scratch), Streamlit, Plotly, GitHub. No external APIs.</a:t>
            </a:r>
          </a:p>
          <a:p>
            <a:pPr marL="285750" indent="-285750">
              <a:spcAft>
                <a:spcPts val="600"/>
              </a:spcAft>
              <a:buFont typeface="Arial"/>
              <a:buChar char="•"/>
            </a:pPr>
            <a:r>
              <a:rPr sz="1500" b="1" u="none">
                <a:solidFill>
                  <a:srgbClr val="000000"/>
                </a:solidFill>
                <a:latin typeface="Arial"/>
              </a:rPr>
              <a:t>Flow: </a:t>
            </a:r>
            <a:r>
              <a:rPr sz="1500" b="0" u="none">
                <a:solidFill>
                  <a:srgbClr val="000000"/>
                </a:solidFill>
                <a:latin typeface="Arial"/>
              </a:rPr>
              <a:t>Data -&gt; Analyze -&gt; Model -&gt; Build -&gt; Deploy</a:t>
            </a:r>
          </a:p>
        </p:txBody>
      </p:sp>
      <p:sp>
        <p:nvSpPr>
          <p:cNvPr id="10" name="Pentagon 9"/>
          <p:cNvSpPr/>
          <p:nvPr/>
        </p:nvSpPr>
        <p:spPr>
          <a:xfrm>
            <a:off x="548640" y="3350000"/>
            <a:ext cx="2090000" cy="600000"/>
          </a:xfrm>
          <a:prstGeom prst="homePlate">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u="none">
                <a:solidFill>
                  <a:srgbClr val="000000"/>
                </a:solidFill>
                <a:latin typeface="Arial"/>
              </a:rPr>
              <a:t>Data</a:t>
            </a:r>
          </a:p>
        </p:txBody>
      </p:sp>
      <p:sp>
        <p:nvSpPr>
          <p:cNvPr id="11" name="TextBox 10"/>
          <p:cNvSpPr txBox="1"/>
          <p:nvPr/>
        </p:nvSpPr>
        <p:spPr>
          <a:xfrm>
            <a:off x="548640" y="4050000"/>
            <a:ext cx="1990000" cy="1300000"/>
          </a:xfrm>
          <a:prstGeom prst="rect">
            <a:avLst/>
          </a:prstGeom>
          <a:noFill/>
        </p:spPr>
        <p:txBody>
          <a:bodyPr wrap="square">
            <a:spAutoFit/>
          </a:bodyPr>
          <a:lstStyle/>
          <a:p>
            <a:r>
              <a:rPr sz="1300" b="0" u="none">
                <a:solidFill>
                  <a:srgbClr val="000000"/>
                </a:solidFill>
                <a:latin typeface="Arial"/>
              </a:rPr>
              <a:t>5 CSVs joined; 7 data issues found and documented</a:t>
            </a:r>
          </a:p>
        </p:txBody>
      </p:sp>
      <p:sp>
        <p:nvSpPr>
          <p:cNvPr id="12" name="Pentagon 11"/>
          <p:cNvSpPr/>
          <p:nvPr/>
        </p:nvSpPr>
        <p:spPr>
          <a:xfrm>
            <a:off x="2788640" y="3350000"/>
            <a:ext cx="2090000" cy="600000"/>
          </a:xfrm>
          <a:prstGeom prst="homePlate">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u="none">
                <a:solidFill>
                  <a:srgbClr val="000000"/>
                </a:solidFill>
                <a:latin typeface="Arial"/>
              </a:rPr>
              <a:t>Analyze</a:t>
            </a:r>
          </a:p>
        </p:txBody>
      </p:sp>
      <p:sp>
        <p:nvSpPr>
          <p:cNvPr id="13" name="TextBox 12"/>
          <p:cNvSpPr txBox="1"/>
          <p:nvPr/>
        </p:nvSpPr>
        <p:spPr>
          <a:xfrm>
            <a:off x="2788640" y="4050000"/>
            <a:ext cx="1990000" cy="1300000"/>
          </a:xfrm>
          <a:prstGeom prst="rect">
            <a:avLst/>
          </a:prstGeom>
          <a:noFill/>
        </p:spPr>
        <p:txBody>
          <a:bodyPr wrap="square">
            <a:spAutoFit/>
          </a:bodyPr>
          <a:lstStyle/>
          <a:p>
            <a:r>
              <a:rPr sz="1300" b="0" u="none">
                <a:solidFill>
                  <a:srgbClr val="000000"/>
                </a:solidFill>
                <a:latin typeface="Arial"/>
              </a:rPr>
              <a:t>leak sizing; scan of 10 drivers with significance tests</a:t>
            </a:r>
          </a:p>
        </p:txBody>
      </p:sp>
      <p:sp>
        <p:nvSpPr>
          <p:cNvPr id="14" name="Pentagon 13"/>
          <p:cNvSpPr/>
          <p:nvPr/>
        </p:nvSpPr>
        <p:spPr>
          <a:xfrm>
            <a:off x="5028640" y="3350000"/>
            <a:ext cx="2090000" cy="600000"/>
          </a:xfrm>
          <a:prstGeom prst="homePlate">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u="none">
                <a:solidFill>
                  <a:srgbClr val="000000"/>
                </a:solidFill>
                <a:latin typeface="Arial"/>
              </a:rPr>
              <a:t>Model</a:t>
            </a:r>
          </a:p>
        </p:txBody>
      </p:sp>
      <p:sp>
        <p:nvSpPr>
          <p:cNvPr id="15" name="TextBox 14"/>
          <p:cNvSpPr txBox="1"/>
          <p:nvPr/>
        </p:nvSpPr>
        <p:spPr>
          <a:xfrm>
            <a:off x="5028640" y="4050000"/>
            <a:ext cx="1990000" cy="1300000"/>
          </a:xfrm>
          <a:prstGeom prst="rect">
            <a:avLst/>
          </a:prstGeom>
          <a:noFill/>
        </p:spPr>
        <p:txBody>
          <a:bodyPr wrap="square">
            <a:spAutoFit/>
          </a:bodyPr>
          <a:lstStyle/>
          <a:p>
            <a:r>
              <a:rPr sz="1300" b="0" u="none">
                <a:solidFill>
                  <a:srgbClr val="000000"/>
                </a:solidFill>
                <a:latin typeface="Arial"/>
              </a:rPr>
              <a:t>from-scratch ML; time-aware split; honest baselines</a:t>
            </a:r>
          </a:p>
        </p:txBody>
      </p:sp>
      <p:sp>
        <p:nvSpPr>
          <p:cNvPr id="16" name="Pentagon 15"/>
          <p:cNvSpPr/>
          <p:nvPr/>
        </p:nvSpPr>
        <p:spPr>
          <a:xfrm>
            <a:off x="7268640" y="3350000"/>
            <a:ext cx="2090000" cy="600000"/>
          </a:xfrm>
          <a:prstGeom prst="homePlate">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u="none">
                <a:solidFill>
                  <a:srgbClr val="000000"/>
                </a:solidFill>
                <a:latin typeface="Arial"/>
              </a:rPr>
              <a:t>Build</a:t>
            </a:r>
          </a:p>
        </p:txBody>
      </p:sp>
      <p:sp>
        <p:nvSpPr>
          <p:cNvPr id="17" name="TextBox 16"/>
          <p:cNvSpPr txBox="1"/>
          <p:nvPr/>
        </p:nvSpPr>
        <p:spPr>
          <a:xfrm>
            <a:off x="7268640" y="4050000"/>
            <a:ext cx="1990000" cy="1300000"/>
          </a:xfrm>
          <a:prstGeom prst="rect">
            <a:avLst/>
          </a:prstGeom>
          <a:noFill/>
        </p:spPr>
        <p:txBody>
          <a:bodyPr wrap="square">
            <a:spAutoFit/>
          </a:bodyPr>
          <a:lstStyle/>
          <a:p>
            <a:r>
              <a:rPr sz="1300" b="0" u="none">
                <a:solidFill>
                  <a:srgbClr val="000000"/>
                </a:solidFill>
                <a:latin typeface="Arial"/>
              </a:rPr>
              <a:t>8-tab Streamlit app; what-ifs; downloads</a:t>
            </a:r>
          </a:p>
        </p:txBody>
      </p:sp>
      <p:sp>
        <p:nvSpPr>
          <p:cNvPr id="18" name="Rectangle 17"/>
          <p:cNvSpPr/>
          <p:nvPr/>
        </p:nvSpPr>
        <p:spPr>
          <a:xfrm>
            <a:off x="9508640" y="3350000"/>
            <a:ext cx="2090000" cy="60000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u="none">
                <a:solidFill>
                  <a:srgbClr val="000000"/>
                </a:solidFill>
                <a:latin typeface="Arial"/>
              </a:rPr>
              <a:t>Deploy</a:t>
            </a:r>
          </a:p>
        </p:txBody>
      </p:sp>
      <p:sp>
        <p:nvSpPr>
          <p:cNvPr id="19" name="TextBox 18"/>
          <p:cNvSpPr txBox="1"/>
          <p:nvPr/>
        </p:nvSpPr>
        <p:spPr>
          <a:xfrm>
            <a:off x="9508640" y="4050000"/>
            <a:ext cx="1990000" cy="1300000"/>
          </a:xfrm>
          <a:prstGeom prst="rect">
            <a:avLst/>
          </a:prstGeom>
          <a:noFill/>
        </p:spPr>
        <p:txBody>
          <a:bodyPr wrap="square">
            <a:spAutoFit/>
          </a:bodyPr>
          <a:lstStyle/>
          <a:p>
            <a:r>
              <a:rPr sz="1300" b="0" u="none">
                <a:solidFill>
                  <a:srgbClr val="000000"/>
                </a:solidFill>
                <a:latin typeface="Arial"/>
              </a:rPr>
              <a:t>GitHub repo + public URL; swap CSVs to refresh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783080" y="228600"/>
            <a:ext cx="8595360" cy="868680"/>
          </a:xfrm>
          <a:prstGeom prst="rect">
            <a:avLst/>
          </a:prstGeom>
          <a:noFill/>
        </p:spPr>
        <p:txBody>
          <a:bodyPr wrap="square" anchor="ctr">
            <a:spAutoFit/>
          </a:bodyPr>
          <a:lstStyle/>
          <a:p>
            <a:pPr algn="ctr"/>
            <a:r>
              <a:rPr sz="3000" b="0">
                <a:solidFill>
                  <a:srgbClr val="000000"/>
                </a:solidFill>
                <a:latin typeface="Arial Black"/>
              </a:rPr>
              <a:t>FEASIBILITY, IMPACT &amp; NEXT STEPS</a:t>
            </a:r>
          </a:p>
        </p:txBody>
      </p:sp>
      <p:pic>
        <p:nvPicPr>
          <p:cNvPr id="3" name="Picture 2" descr="logo-dsc-light.png"/>
          <p:cNvPicPr>
            <a:picLocks noChangeAspect="1"/>
          </p:cNvPicPr>
          <p:nvPr/>
        </p:nvPicPr>
        <p:blipFill>
          <a:blip r:embed="rId2"/>
          <a:stretch>
            <a:fillRect/>
          </a:stretch>
        </p:blipFill>
        <p:spPr>
          <a:xfrm>
            <a:off x="411480" y="137160"/>
            <a:ext cx="1144693" cy="914400"/>
          </a:xfrm>
          <a:prstGeom prst="rect">
            <a:avLst/>
          </a:prstGeom>
        </p:spPr>
      </p:pic>
      <p:pic>
        <p:nvPicPr>
          <p:cNvPr id="4" name="Picture 3" descr="logo-iiec-light.png"/>
          <p:cNvPicPr>
            <a:picLocks noChangeAspect="1"/>
          </p:cNvPicPr>
          <p:nvPr/>
        </p:nvPicPr>
        <p:blipFill>
          <a:blip r:embed="rId3"/>
          <a:stretch>
            <a:fillRect/>
          </a:stretch>
        </p:blipFill>
        <p:spPr>
          <a:xfrm>
            <a:off x="10241280" y="320040"/>
            <a:ext cx="1497850" cy="566928"/>
          </a:xfrm>
          <a:prstGeom prst="rect">
            <a:avLst/>
          </a:prstGeom>
        </p:spPr>
      </p:pic>
      <p:sp>
        <p:nvSpPr>
          <p:cNvPr id="5" name="Rectangle 4"/>
          <p:cNvSpPr/>
          <p:nvPr/>
        </p:nvSpPr>
        <p:spPr>
          <a:xfrm>
            <a:off x="0" y="6355080"/>
            <a:ext cx="12191695" cy="50292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6355080"/>
            <a:ext cx="12191695" cy="502920"/>
          </a:xfrm>
          <a:prstGeom prst="rect">
            <a:avLst/>
          </a:prstGeom>
          <a:noFill/>
        </p:spPr>
        <p:txBody>
          <a:bodyPr wrap="square" anchor="ctr">
            <a:spAutoFit/>
          </a:bodyPr>
          <a:lstStyle/>
          <a:p>
            <a:pPr algn="ctr"/>
            <a:r>
              <a:rPr sz="1200" b="1">
                <a:solidFill>
                  <a:srgbClr val="000000"/>
                </a:solidFill>
                <a:latin typeface="Arial"/>
              </a:rPr>
              <a:t>DATATHON 2026  ·  Round 1 Idea Submission – Template</a:t>
            </a:r>
          </a:p>
        </p:txBody>
      </p:sp>
      <p:sp>
        <p:nvSpPr>
          <p:cNvPr id="7" name="TextBox 6"/>
          <p:cNvSpPr txBox="1"/>
          <p:nvPr/>
        </p:nvSpPr>
        <p:spPr>
          <a:xfrm>
            <a:off x="10881360" y="6355080"/>
            <a:ext cx="1005840" cy="502920"/>
          </a:xfrm>
          <a:prstGeom prst="rect">
            <a:avLst/>
          </a:prstGeom>
          <a:noFill/>
        </p:spPr>
        <p:txBody>
          <a:bodyPr wrap="square" anchor="ctr">
            <a:spAutoFit/>
          </a:bodyPr>
          <a:lstStyle/>
          <a:p>
            <a:pPr algn="r"/>
            <a:r>
              <a:rPr sz="1300" b="1">
                <a:solidFill>
                  <a:srgbClr val="000000"/>
                </a:solidFill>
                <a:latin typeface="Arial"/>
              </a:rPr>
              <a:t>8</a:t>
            </a:r>
          </a:p>
        </p:txBody>
      </p:sp>
      <p:sp>
        <p:nvSpPr>
          <p:cNvPr id="8" name="TextBox 7"/>
          <p:cNvSpPr txBox="1"/>
          <p:nvPr/>
        </p:nvSpPr>
        <p:spPr>
          <a:xfrm>
            <a:off x="548640" y="1400000"/>
            <a:ext cx="11064240" cy="480000"/>
          </a:xfrm>
          <a:prstGeom prst="rect">
            <a:avLst/>
          </a:prstGeom>
          <a:noFill/>
        </p:spPr>
        <p:txBody>
          <a:bodyPr wrap="square">
            <a:spAutoFit/>
          </a:bodyPr>
          <a:lstStyle/>
          <a:p>
            <a:r>
              <a:rPr sz="2400" b="1" u="none">
                <a:solidFill>
                  <a:srgbClr val="000000"/>
                </a:solidFill>
                <a:latin typeface="Arial"/>
              </a:rPr>
              <a:t>❖ </a:t>
            </a:r>
            <a:r>
              <a:rPr sz="2400" b="1" u="sng">
                <a:solidFill>
                  <a:srgbClr val="000000"/>
                </a:solidFill>
                <a:latin typeface="Arial"/>
              </a:rPr>
              <a:t>Feasibility, Impact &amp; Next Steps</a:t>
            </a:r>
          </a:p>
        </p:txBody>
      </p:sp>
      <p:sp>
        <p:nvSpPr>
          <p:cNvPr id="9" name="TextBox 8"/>
          <p:cNvSpPr txBox="1"/>
          <p:nvPr/>
        </p:nvSpPr>
        <p:spPr>
          <a:xfrm>
            <a:off x="548640" y="1950000"/>
            <a:ext cx="11064240" cy="4300000"/>
          </a:xfrm>
          <a:prstGeom prst="rect">
            <a:avLst/>
          </a:prstGeom>
          <a:noFill/>
        </p:spPr>
        <p:txBody>
          <a:bodyPr wrap="square">
            <a:spAutoFit/>
          </a:bodyPr>
          <a:lstStyle/>
          <a:p>
            <a:pPr marL="285750" indent="-285750">
              <a:spcAft>
                <a:spcPts val="800"/>
              </a:spcAft>
              <a:buFont typeface="Arial"/>
              <a:buChar char="•"/>
            </a:pPr>
            <a:r>
              <a:rPr sz="1400" b="1" u="none">
                <a:solidFill>
                  <a:srgbClr val="000000"/>
                </a:solidFill>
                <a:latin typeface="Arial"/>
              </a:rPr>
              <a:t>Feasibility and risks: </a:t>
            </a:r>
            <a:r>
              <a:rPr sz="1400" b="0" u="none">
                <a:solidFill>
                  <a:srgbClr val="000000"/>
                </a:solidFill>
                <a:latin typeface="Arial"/>
              </a:rPr>
              <a:t>runs on the 5 CSVs in seconds (analysis cached). Risk: cost and price data may be wrong (README warns) -&gt; finance confirms before repricing. Risk: weak signal -&gt; every action carries a High / Medium / Low confidence label.</a:t>
            </a:r>
          </a:p>
          <a:p>
            <a:pPr marL="285750" indent="-285750">
              <a:spcAft>
                <a:spcPts val="800"/>
              </a:spcAft>
              <a:buFont typeface="Arial"/>
              <a:buChar char="•"/>
            </a:pPr>
            <a:r>
              <a:rPr sz="1400" b="1" u="none">
                <a:solidFill>
                  <a:srgbClr val="000000"/>
                </a:solidFill>
                <a:latin typeface="Arial"/>
              </a:rPr>
              <a:t>Impact: </a:t>
            </a:r>
            <a:r>
              <a:rPr sz="1400" b="0" u="none">
                <a:solidFill>
                  <a:srgbClr val="000000"/>
                </a:solidFill>
                <a:latin typeface="Arial"/>
              </a:rPr>
              <a:t>repricing up to 1.62M margin gain (20% target margin, 15% volume loss); stuck orders 370K; ad audit up to 1.38M spend above benchmark (low confidence). Impacts overlap, so they are upper bounds.</a:t>
            </a:r>
          </a:p>
          <a:p>
            <a:pPr marL="285750" indent="-285750">
              <a:spcAft>
                <a:spcPts val="800"/>
              </a:spcAft>
              <a:buFont typeface="Arial"/>
              <a:buChar char="•"/>
            </a:pPr>
            <a:r>
              <a:rPr sz="1400" b="1" u="none">
                <a:solidFill>
                  <a:srgbClr val="000000"/>
                </a:solidFill>
                <a:latin typeface="Arial"/>
              </a:rPr>
              <a:t>Limitations: </a:t>
            </a:r>
            <a:r>
              <a:rPr sz="1400" b="0" u="none">
                <a:solidFill>
                  <a:srgbClr val="000000"/>
                </a:solidFill>
                <a:latin typeface="Arial"/>
              </a:rPr>
              <a:t>synthetic data, currency not stated, no real-world causes claimed.</a:t>
            </a:r>
          </a:p>
          <a:p>
            <a:pPr marL="285750" indent="-285750">
              <a:spcAft>
                <a:spcPts val="800"/>
              </a:spcAft>
              <a:buFont typeface="Arial"/>
              <a:buChar char="•"/>
            </a:pPr>
            <a:r>
              <a:rPr sz="1400" b="1" u="none">
                <a:solidFill>
                  <a:srgbClr val="000000"/>
                </a:solidFill>
                <a:latin typeface="Arial"/>
              </a:rPr>
              <a:t>Next steps and references: </a:t>
            </a:r>
            <a:r>
              <a:rPr sz="1400" b="0" u="none">
                <a:solidFill>
                  <a:srgbClr val="000000"/>
                </a:solidFill>
                <a:latin typeface="Arial"/>
              </a:rPr>
              <a:t>polish and rehearse the 60-second demo; add cancel/return reason capture; A/B test budget moves. Reference: Datathon 2026 Track 4 dataset and README; all code in our repo.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426"/>
        </a:solidFill>
        <a:effectLst/>
      </p:bgPr>
    </p:bg>
    <p:spTree>
      <p:nvGrpSpPr>
        <p:cNvPr id="1" name=""/>
        <p:cNvGrpSpPr/>
        <p:nvPr/>
      </p:nvGrpSpPr>
      <p:grpSpPr/>
      <p:sp>
        <p:nvSpPr>
          <p:cNvPr id="2" name="TextBox 1"/>
          <p:cNvSpPr txBox="1"/>
          <p:nvPr/>
        </p:nvSpPr>
        <p:spPr>
          <a:xfrm>
            <a:off x="502920" y="219456"/>
            <a:ext cx="11186160" cy="438912"/>
          </a:xfrm>
          <a:prstGeom prst="rect">
            <a:avLst/>
          </a:prstGeom>
          <a:noFill/>
        </p:spPr>
        <p:txBody>
          <a:bodyPr wrap="none">
            <a:spAutoFit/>
          </a:bodyPr>
          <a:lstStyle/>
          <a:p>
            <a:pPr>
              <a:defRPr sz="2500" b="1">
                <a:solidFill>
                  <a:srgbClr val="F1F5F9"/>
                </a:solidFill>
                <a:latin typeface="Aptos Display"/>
              </a:defRPr>
            </a:pPr>
            <a:r>
              <a:t>LeakFinder Web Application</a:t>
            </a:r>
          </a:p>
        </p:txBody>
      </p:sp>
      <p:sp>
        <p:nvSpPr>
          <p:cNvPr id="4" name="TextBox 3"/>
          <p:cNvSpPr txBox="1"/>
          <p:nvPr/>
        </p:nvSpPr>
        <p:spPr>
          <a:xfrm>
            <a:off x="502920" y="6565392"/>
            <a:ext cx="11186160" cy="182880"/>
          </a:xfrm>
          <a:prstGeom prst="rect">
            <a:avLst/>
          </a:prstGeom>
          <a:noFill/>
        </p:spPr>
        <p:txBody>
          <a:bodyPr wrap="none">
            <a:spAutoFit/>
          </a:bodyPr>
          <a:lstStyle/>
          <a:p>
            <a:pPr algn="r">
              <a:defRPr sz="900">
                <a:solidFill>
                  <a:srgbClr val="94A3B8"/>
                </a:solidFill>
                <a:latin typeface="Aptos"/>
              </a:defRPr>
            </a:pPr>
            <a:r>
              <a:t>W V P S SRIRAJ (23BCE8414)</a:t>
            </a:r>
          </a:p>
        </p:txBody>
      </p:sp>
      <p:pic>
        <p:nvPicPr>
          <p:cNvPr id="5" name="Picture 4" descr="leakfinder-overview.png"/>
          <p:cNvPicPr>
            <a:picLocks noChangeAspect="1"/>
          </p:cNvPicPr>
          <p:nvPr/>
        </p:nvPicPr>
        <p:blipFill>
          <a:blip r:embed="rId3"/>
          <a:stretch>
            <a:fillRect/>
          </a:stretch>
        </p:blipFill>
        <p:spPr>
          <a:xfrm>
            <a:off x="1472793" y="786384"/>
            <a:ext cx="9246412" cy="577900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426"/>
        </a:solidFill>
        <a:effectLst/>
      </p:bgPr>
    </p:bg>
    <p:spTree>
      <p:nvGrpSpPr>
        <p:cNvPr id="1" name=""/>
        <p:cNvGrpSpPr/>
        <p:nvPr/>
      </p:nvGrpSpPr>
      <p:grpSpPr/>
      <p:sp>
        <p:nvSpPr>
          <p:cNvPr id="2" name="TextBox 1"/>
          <p:cNvSpPr txBox="1"/>
          <p:nvPr/>
        </p:nvSpPr>
        <p:spPr>
          <a:xfrm>
            <a:off x="502920" y="219456"/>
            <a:ext cx="11186160" cy="438912"/>
          </a:xfrm>
          <a:prstGeom prst="rect">
            <a:avLst/>
          </a:prstGeom>
          <a:noFill/>
        </p:spPr>
        <p:txBody>
          <a:bodyPr wrap="none">
            <a:spAutoFit/>
          </a:bodyPr>
          <a:lstStyle/>
          <a:p>
            <a:pPr>
              <a:defRPr sz="2500" b="1">
                <a:solidFill>
                  <a:srgbClr val="F1F5F9"/>
                </a:solidFill>
                <a:latin typeface="Aptos Display"/>
              </a:defRPr>
            </a:pPr>
            <a:r>
              <a:t>Live Command Center</a:t>
            </a:r>
          </a:p>
        </p:txBody>
      </p:sp>
      <p:sp>
        <p:nvSpPr>
          <p:cNvPr id="4" name="TextBox 3"/>
          <p:cNvSpPr txBox="1"/>
          <p:nvPr/>
        </p:nvSpPr>
        <p:spPr>
          <a:xfrm>
            <a:off x="502920" y="6565392"/>
            <a:ext cx="11186160" cy="182880"/>
          </a:xfrm>
          <a:prstGeom prst="rect">
            <a:avLst/>
          </a:prstGeom>
          <a:noFill/>
        </p:spPr>
        <p:txBody>
          <a:bodyPr wrap="none">
            <a:spAutoFit/>
          </a:bodyPr>
          <a:lstStyle/>
          <a:p>
            <a:pPr algn="r">
              <a:defRPr sz="900">
                <a:solidFill>
                  <a:srgbClr val="94A3B8"/>
                </a:solidFill>
                <a:latin typeface="Aptos"/>
              </a:defRPr>
            </a:pPr>
            <a:r>
              <a:t>W V P S SRIRAJ (23BCE8414)</a:t>
            </a:r>
          </a:p>
        </p:txBody>
      </p:sp>
      <p:pic>
        <p:nvPicPr>
          <p:cNvPr id="5" name="Picture 4" descr="leakfinder-command-center.png"/>
          <p:cNvPicPr>
            <a:picLocks noChangeAspect="1"/>
          </p:cNvPicPr>
          <p:nvPr/>
        </p:nvPicPr>
        <p:blipFill>
          <a:blip r:embed="rId3"/>
          <a:stretch>
            <a:fillRect/>
          </a:stretch>
        </p:blipFill>
        <p:spPr>
          <a:xfrm>
            <a:off x="1472793" y="786384"/>
            <a:ext cx="9246412" cy="577900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426"/>
        </a:solidFill>
        <a:effectLst/>
      </p:bgPr>
    </p:bg>
    <p:spTree>
      <p:nvGrpSpPr>
        <p:cNvPr id="1" name=""/>
        <p:cNvGrpSpPr/>
        <p:nvPr/>
      </p:nvGrpSpPr>
      <p:grpSpPr/>
      <p:sp>
        <p:nvSpPr>
          <p:cNvPr id="2" name="TextBox 1"/>
          <p:cNvSpPr txBox="1"/>
          <p:nvPr/>
        </p:nvSpPr>
        <p:spPr>
          <a:xfrm>
            <a:off x="502920" y="219456"/>
            <a:ext cx="11186160" cy="438912"/>
          </a:xfrm>
          <a:prstGeom prst="rect">
            <a:avLst/>
          </a:prstGeom>
          <a:noFill/>
        </p:spPr>
        <p:txBody>
          <a:bodyPr wrap="none">
            <a:spAutoFit/>
          </a:bodyPr>
          <a:lstStyle/>
          <a:p>
            <a:pPr>
              <a:defRPr sz="2500" b="1">
                <a:solidFill>
                  <a:srgbClr val="F1F5F9"/>
                </a:solidFill>
                <a:latin typeface="Aptos Display"/>
              </a:defRPr>
            </a:pPr>
            <a:r>
              <a:t>Responsive Mobile View</a:t>
            </a:r>
          </a:p>
        </p:txBody>
      </p:sp>
      <p:sp>
        <p:nvSpPr>
          <p:cNvPr id="4" name="TextBox 3"/>
          <p:cNvSpPr txBox="1"/>
          <p:nvPr/>
        </p:nvSpPr>
        <p:spPr>
          <a:xfrm>
            <a:off x="4114800" y="1417320"/>
            <a:ext cx="7437120" cy="3383280"/>
          </a:xfrm>
          <a:prstGeom prst="rect">
            <a:avLst/>
          </a:prstGeom>
          <a:noFill/>
        </p:spPr>
        <p:txBody>
          <a:bodyPr wrap="square" anchor="ctr">
            <a:spAutoFit/>
          </a:bodyPr>
          <a:lstStyle/>
          <a:p>
            <a:pPr>
              <a:defRPr sz="2300" b="1">
                <a:solidFill>
                  <a:srgbClr val="6CE1B6"/>
                </a:solidFill>
                <a:latin typeface="Aptos Display"/>
              </a:defRPr>
            </a:pPr>
            <a:r>
              <a:t>Designed for a narrow viewport</a:t>
            </a:r>
          </a:p>
          <a:p>
            <a:pPr>
              <a:spcBef>
                <a:spcPts val="1400"/>
              </a:spcBef>
              <a:defRPr sz="1600">
                <a:solidFill>
                  <a:srgbClr val="CBD5E1"/>
                </a:solidFill>
                <a:latin typeface="Aptos"/>
              </a:defRPr>
            </a:pPr>
            <a:r>
              <a:t>The filter sidebar collapses, keeping the live exposure preview and key actions readable on mobile.</a:t>
            </a:r>
          </a:p>
        </p:txBody>
      </p:sp>
      <p:sp>
        <p:nvSpPr>
          <p:cNvPr id="5" name="TextBox 4"/>
          <p:cNvSpPr txBox="1"/>
          <p:nvPr/>
        </p:nvSpPr>
        <p:spPr>
          <a:xfrm>
            <a:off x="502920" y="6565392"/>
            <a:ext cx="11186160" cy="182880"/>
          </a:xfrm>
          <a:prstGeom prst="rect">
            <a:avLst/>
          </a:prstGeom>
          <a:noFill/>
        </p:spPr>
        <p:txBody>
          <a:bodyPr wrap="none">
            <a:spAutoFit/>
          </a:bodyPr>
          <a:lstStyle/>
          <a:p>
            <a:pPr algn="r">
              <a:defRPr sz="900">
                <a:solidFill>
                  <a:srgbClr val="94A3B8"/>
                </a:solidFill>
                <a:latin typeface="Aptos"/>
              </a:defRPr>
            </a:pPr>
            <a:r>
              <a:t>W V P S SRIRAJ (23BCE8414)</a:t>
            </a:r>
          </a:p>
        </p:txBody>
      </p:sp>
      <p:pic>
        <p:nvPicPr>
          <p:cNvPr id="6" name="Picture 5" descr="leakfinder-mobile.png"/>
          <p:cNvPicPr>
            <a:picLocks noChangeAspect="1"/>
          </p:cNvPicPr>
          <p:nvPr/>
        </p:nvPicPr>
        <p:blipFill>
          <a:blip r:embed="rId3"/>
          <a:stretch>
            <a:fillRect/>
          </a:stretch>
        </p:blipFill>
        <p:spPr>
          <a:xfrm>
            <a:off x="777240" y="786384"/>
            <a:ext cx="2602132" cy="577900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426"/>
        </a:solidFill>
        <a:effectLst/>
      </p:bgPr>
    </p:bg>
    <p:spTree>
      <p:nvGrpSpPr>
        <p:cNvPr id="1" name=""/>
        <p:cNvGrpSpPr/>
        <p:nvPr/>
      </p:nvGrpSpPr>
      <p:grpSpPr/>
      <p:sp>
        <p:nvSpPr>
          <p:cNvPr id="2" name="TextBox 1"/>
          <p:cNvSpPr txBox="1"/>
          <p:nvPr/>
        </p:nvSpPr>
        <p:spPr>
          <a:xfrm>
            <a:off x="502920" y="219456"/>
            <a:ext cx="11186160" cy="438912"/>
          </a:xfrm>
          <a:prstGeom prst="rect">
            <a:avLst/>
          </a:prstGeom>
          <a:noFill/>
        </p:spPr>
        <p:txBody>
          <a:bodyPr wrap="none">
            <a:spAutoFit/>
          </a:bodyPr>
          <a:lstStyle/>
          <a:p>
            <a:pPr>
              <a:defRPr sz="2500" b="1">
                <a:solidFill>
                  <a:srgbClr val="F1F5F9"/>
                </a:solidFill>
                <a:latin typeface="Aptos Display"/>
              </a:defRPr>
            </a:pPr>
            <a:r>
              <a:t>Exposure: aligned revenue view</a:t>
            </a:r>
          </a:p>
        </p:txBody>
      </p:sp>
      <p:pic>
        <p:nvPicPr>
          <p:cNvPr id="3" name="Picture 2" descr="leakfinder-exposure.png"/>
          <p:cNvPicPr>
            <a:picLocks noChangeAspect="1"/>
          </p:cNvPicPr>
          <p:nvPr/>
        </p:nvPicPr>
        <p:blipFill>
          <a:blip r:embed="rId2"/>
          <a:stretch>
            <a:fillRect/>
          </a:stretch>
        </p:blipFill>
        <p:spPr>
          <a:xfrm>
            <a:off x="1472793" y="786384"/>
            <a:ext cx="9246412" cy="5779008"/>
          </a:xfrm>
          <a:prstGeom prst="rect">
            <a:avLst/>
          </a:prstGeom>
        </p:spPr>
      </p:pic>
      <p:sp>
        <p:nvSpPr>
          <p:cNvPr id="4" name="TextBox 3"/>
          <p:cNvSpPr txBox="1"/>
          <p:nvPr/>
        </p:nvSpPr>
        <p:spPr>
          <a:xfrm>
            <a:off x="502920" y="6565392"/>
            <a:ext cx="11186160" cy="182880"/>
          </a:xfrm>
          <a:prstGeom prst="rect">
            <a:avLst/>
          </a:prstGeom>
          <a:noFill/>
        </p:spPr>
        <p:txBody>
          <a:bodyPr wrap="none">
            <a:spAutoFit/>
          </a:bodyPr>
          <a:lstStyle/>
          <a:p>
            <a:pPr algn="r">
              <a:defRPr sz="900">
                <a:solidFill>
                  <a:srgbClr val="94A3B8"/>
                </a:solidFill>
                <a:latin typeface="Aptos"/>
              </a:defRPr>
            </a:pPr>
            <a:r>
              <a:t>W V P S SRIRAJ (23BCE8414)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1112</Words>
  <Application>Microsoft Office PowerPoint</Application>
  <PresentationFormat>Widescreen</PresentationFormat>
  <Paragraphs>113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SRIRAJ W.V.P.S</cp:lastModifiedBy>
  <cp:revision>5</cp:revision>
  <dcterms:created xsi:type="dcterms:W3CDTF">2013-01-27T09:14:16Z</dcterms:created>
  <dcterms:modified xsi:type="dcterms:W3CDTF">2026-10-16T06:54:57Z</dcterms:modified>
  <cp:category/>
</cp:coreProperties>
</file>